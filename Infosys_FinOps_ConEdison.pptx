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Amortised spend</c:v>
                </c:pt>
              </c:strCache>
            </c:strRef>
          </c:tx>
          <c:spPr>
            <a:solidFill>
              <a:srgbClr val="2A78D6"/>
            </a:solidFill>
            <a:ln w="25400">
              <a:solidFill>
                <a:srgbClr val="2A78D6"/>
              </a:solidFill>
            </a:ln>
          </c:spPr>
          <c:cat>
            <c:strRef>
              <c:f>Sheet1!$A$2:$A$4</c:f>
              <c:strCache>
                <c:ptCount val="3"/>
                <c:pt idx="0">
                  <c:v>AWS</c:v>
                </c:pt>
                <c:pt idx="1">
                  <c:v>Azure</c:v>
                </c:pt>
                <c:pt idx="2">
                  <c:v>GCP</c:v>
                </c:pt>
              </c:strCache>
            </c:strRef>
          </c:cat>
          <c:val>
            <c:numRef>
              <c:f>Sheet1!$B$2:$B$4</c:f>
              <c:numCache>
                <c:formatCode>General</c:formatCode>
                <c:ptCount val="3"/>
                <c:pt idx="0">
                  <c:v>16878792.00068</c:v>
                </c:pt>
                <c:pt idx="1">
                  <c:v>8225651.24992</c:v>
                </c:pt>
                <c:pt idx="2">
                  <c:v>5179213.32652</c:v>
                </c:pt>
              </c:numCache>
            </c:numRef>
          </c:val>
        </c:ser>
        <c:axId val="-2068027336"/>
        <c:axId val="-2113994440"/>
      </c:barChart>
      <c:catAx>
        <c:axId val="-2068027336"/>
        <c:scaling>
          <c:orientation val="minMax"/>
        </c:scaling>
        <c:delete val="0"/>
        <c:axPos val="b"/>
        <c:majorTickMark val="out"/>
        <c:minorTickMark val="none"/>
        <c:tickLblPos val="nextTo"/>
        <c:spPr>
          <a:ln>
            <a:solidFill>
              <a:srgbClr val="E2E7EF"/>
            </a:solidFill>
          </a:ln>
        </c:spPr>
        <c:crossAx val="-2113994440"/>
        <c:crosses val="autoZero"/>
        <c:auto val="1"/>
        <c:lblAlgn val="ctr"/>
        <c:lblOffset val="100"/>
        <c:noMultiLvlLbl val="0"/>
      </c:catAx>
      <c:valAx>
        <c:axId val="-2113994440"/>
        <c:scaling/>
        <c:delete val="0"/>
        <c:axPos val="l"/>
        <c:majorGridlines>
          <c:spPr>
            <a:ln w="6350">
              <a:solidFill>
                <a:srgbClr val="E2E7EF"/>
              </a:solidFill>
            </a:ln>
          </c:spPr>
        </c:majorGridlines>
        <c:numFmt formatCode="#,##0,,&quot;M&quot;" sourceLinked="0"/>
        <c:majorTickMark val="out"/>
        <c:minorTickMark val="none"/>
        <c:tickLblPos val="nextTo"/>
        <c:spPr>
          <a:ln>
            <a:noFill/>
          </a:ln>
        </c:spPr>
        <c:crossAx val="-2068027336"/>
        <c:crosses val="autoZero"/>
      </c:valAx>
    </c:plotArea>
    <c:dispBlanksAs val="gap"/>
  </c:chart>
  <c:txPr>
    <a:bodyPr/>
    <a:lstStyle/>
    <a:p>
      <a:pPr>
        <a:defRPr sz="1000">
          <a:solidFill>
            <a:srgbClr val="445066"/>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Monthly spend</c:v>
                </c:pt>
              </c:strCache>
            </c:strRef>
          </c:tx>
          <c:spPr>
            <a:solidFill>
              <a:srgbClr val="2A78D6"/>
            </a:solidFill>
            <a:ln w="25400">
              <a:solidFill>
                <a:srgbClr val="2A78D6"/>
              </a:solidFill>
            </a:ln>
          </c:spPr>
          <c:marker>
            <c:symbol val="none"/>
          </c:marker>
          <c:cat>
            <c:strRef>
              <c:f>Sheet1!$A$2:$A$25</c:f>
              <c:strCache>
                <c:ptCount val="24"/>
                <c:pt idx="0">
                  <c:v>Jul 24</c:v>
                </c:pt>
                <c:pt idx="1">
                  <c:v>Aug 24</c:v>
                </c:pt>
                <c:pt idx="2">
                  <c:v>Sep 24</c:v>
                </c:pt>
                <c:pt idx="3">
                  <c:v>Oct 24</c:v>
                </c:pt>
                <c:pt idx="4">
                  <c:v>Nov 24</c:v>
                </c:pt>
                <c:pt idx="5">
                  <c:v>Dec 24</c:v>
                </c:pt>
                <c:pt idx="6">
                  <c:v>Jan 25</c:v>
                </c:pt>
                <c:pt idx="7">
                  <c:v>Feb 25</c:v>
                </c:pt>
                <c:pt idx="8">
                  <c:v>Mar 25</c:v>
                </c:pt>
                <c:pt idx="9">
                  <c:v>Apr 25</c:v>
                </c:pt>
                <c:pt idx="10">
                  <c:v>May 25</c:v>
                </c:pt>
                <c:pt idx="11">
                  <c:v>Jun 25</c:v>
                </c:pt>
                <c:pt idx="12">
                  <c:v>Jul 25</c:v>
                </c:pt>
                <c:pt idx="13">
                  <c:v>Aug 25</c:v>
                </c:pt>
                <c:pt idx="14">
                  <c:v>Sep 25</c:v>
                </c:pt>
                <c:pt idx="15">
                  <c:v>Oct 25</c:v>
                </c:pt>
                <c:pt idx="16">
                  <c:v>Nov 25</c:v>
                </c:pt>
                <c:pt idx="17">
                  <c:v>Dec 25</c:v>
                </c:pt>
                <c:pt idx="18">
                  <c:v>Jan 26</c:v>
                </c:pt>
                <c:pt idx="19">
                  <c:v>Feb 26</c:v>
                </c:pt>
                <c:pt idx="20">
                  <c:v>Mar 26</c:v>
                </c:pt>
                <c:pt idx="21">
                  <c:v>Apr 26</c:v>
                </c:pt>
                <c:pt idx="22">
                  <c:v>May 26</c:v>
                </c:pt>
                <c:pt idx="23">
                  <c:v>Jun 26</c:v>
                </c:pt>
              </c:strCache>
            </c:strRef>
          </c:cat>
          <c:val>
            <c:numRef>
              <c:f>Sheet1!$B$2:$B$25</c:f>
              <c:numCache>
                <c:formatCode>General</c:formatCode>
                <c:ptCount val="24"/>
                <c:pt idx="0">
                  <c:v>1077009.4368</c:v>
                </c:pt>
                <c:pt idx="1">
                  <c:v>1123562.2595</c:v>
                </c:pt>
                <c:pt idx="2">
                  <c:v>1082951.6936</c:v>
                </c:pt>
                <c:pt idx="3">
                  <c:v>1038711.2234</c:v>
                </c:pt>
                <c:pt idx="4">
                  <c:v>1040019.5353999999</c:v>
                </c:pt>
                <c:pt idx="5">
                  <c:v>1033051.8162</c:v>
                </c:pt>
                <c:pt idx="6">
                  <c:v>996607.6444</c:v>
                </c:pt>
                <c:pt idx="7">
                  <c:v>914607.0272</c:v>
                </c:pt>
                <c:pt idx="8">
                  <c:v>1080115.6517</c:v>
                </c:pt>
                <c:pt idx="9">
                  <c:v>1018396.7282</c:v>
                </c:pt>
                <c:pt idx="10">
                  <c:v>1170736.2375</c:v>
                </c:pt>
                <c:pt idx="11">
                  <c:v>1147222.366</c:v>
                </c:pt>
                <c:pt idx="12">
                  <c:v>1202762.0032</c:v>
                </c:pt>
                <c:pt idx="13">
                  <c:v>1528926.2854</c:v>
                </c:pt>
                <c:pt idx="14">
                  <c:v>1467254.7608</c:v>
                </c:pt>
                <c:pt idx="15">
                  <c:v>1474676.4951</c:v>
                </c:pt>
                <c:pt idx="16">
                  <c:v>1396256.7714</c:v>
                </c:pt>
                <c:pt idx="17">
                  <c:v>1434315.36</c:v>
                </c:pt>
                <c:pt idx="18">
                  <c:v>1438506.2012</c:v>
                </c:pt>
                <c:pt idx="19">
                  <c:v>1327102.3267</c:v>
                </c:pt>
                <c:pt idx="20">
                  <c:v>1497401.5778</c:v>
                </c:pt>
                <c:pt idx="21">
                  <c:v>1518459.2001</c:v>
                </c:pt>
                <c:pt idx="22">
                  <c:v>1642759.90944</c:v>
                </c:pt>
                <c:pt idx="23">
                  <c:v>1632244.06608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2E7EF"/>
            </a:solidFill>
          </a:ln>
        </c:spPr>
        <c:txPr>
          <a:bodyPr/>
          <a:lstStyle/>
          <a:p>
            <a:pPr>
              <a:defRPr sz="700"/>
            </a:pPr>
          </a:p>
        </c:txPr>
        <c:crossAx val="2140495176"/>
        <c:crosses val="autoZero"/>
        <c:auto val="1"/>
        <c:lblAlgn val="ctr"/>
        <c:lblOffset val="100"/>
        <c:noMultiLvlLbl val="0"/>
      </c:catAx>
      <c:valAx>
        <c:axId val="2140495176"/>
        <c:scaling/>
        <c:delete val="0"/>
        <c:axPos val="l"/>
        <c:majorGridlines>
          <c:spPr>
            <a:ln w="6350">
              <a:solidFill>
                <a:srgbClr val="E2E7EF"/>
              </a:solidFill>
            </a:ln>
          </c:spPr>
        </c:majorGridlines>
        <c:numFmt formatCode="#,##0,,&quot;M&quot;" sourceLinked="0"/>
        <c:majorTickMark val="out"/>
        <c:minorTickMark val="none"/>
        <c:tickLblPos val="nextTo"/>
        <c:spPr>
          <a:ln>
            <a:noFill/>
          </a:ln>
        </c:spPr>
        <c:crossAx val="2118791784"/>
        <c:crosses val="autoZero"/>
      </c:valAx>
    </c:plotArea>
    <c:plotVisOnly val="1"/>
    <c:dispBlanksAs val="gap"/>
    <c:showDLblsOverMax val="0"/>
  </c:chart>
  <c:txPr>
    <a:bodyPr/>
    <a:lstStyle/>
    <a:p>
      <a:pPr>
        <a:defRPr sz="1000">
          <a:solidFill>
            <a:srgbClr val="445066"/>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Allocated cost</c:v>
                </c:pt>
              </c:strCache>
            </c:strRef>
          </c:tx>
          <c:spPr>
            <a:solidFill>
              <a:srgbClr val="2A78D6"/>
            </a:solidFill>
            <a:ln w="25400">
              <a:solidFill>
                <a:srgbClr val="2A78D6"/>
              </a:solidFill>
            </a:ln>
          </c:spPr>
          <c:cat>
            <c:strRef>
              <c:f>Sheet1!$A$2:$A$7</c:f>
              <c:strCache>
                <c:ptCount val="6"/>
                <c:pt idx="0">
                  <c:v>Electric Operations</c:v>
                </c:pt>
                <c:pt idx="1">
                  <c:v>Customer Operations</c:v>
                </c:pt>
                <c:pt idx="2">
                  <c:v>Corporate IT</c:v>
                </c:pt>
                <c:pt idx="3">
                  <c:v>Gas Operations</c:v>
                </c:pt>
                <c:pt idx="4">
                  <c:v>Clean Energy</c:v>
                </c:pt>
                <c:pt idx="5">
                  <c:v>Steam Operations</c:v>
                </c:pt>
              </c:strCache>
            </c:strRef>
          </c:cat>
          <c:val>
            <c:numRef>
              <c:f>Sheet1!$B$2:$B$7</c:f>
              <c:numCache>
                <c:formatCode>General</c:formatCode>
                <c:ptCount val="6"/>
                <c:pt idx="0">
                  <c:v>12462140.263194226</c:v>
                </c:pt>
                <c:pt idx="1">
                  <c:v>7220761.885764816</c:v>
                </c:pt>
                <c:pt idx="2">
                  <c:v>4321881.497614444</c:v>
                </c:pt>
                <c:pt idx="3">
                  <c:v>3842538.4932015864</c:v>
                </c:pt>
                <c:pt idx="4">
                  <c:v>1703350.489233042</c:v>
                </c:pt>
                <c:pt idx="5">
                  <c:v>732983.9481118865</c:v>
                </c:pt>
              </c:numCache>
            </c:numRef>
          </c:val>
        </c:ser>
        <c:axId val="-2068027336"/>
        <c:axId val="-2113994440"/>
      </c:barChart>
      <c:catAx>
        <c:axId val="-2068027336"/>
        <c:scaling>
          <c:orientation val="minMax"/>
        </c:scaling>
        <c:delete val="0"/>
        <c:axPos val="l"/>
        <c:majorTickMark val="out"/>
        <c:minorTickMark val="none"/>
        <c:tickLblPos val="nextTo"/>
        <c:spPr>
          <a:ln>
            <a:solidFill>
              <a:srgbClr val="E2E7EF"/>
            </a:solidFill>
          </a:ln>
        </c:spPr>
        <c:crossAx val="-2113994440"/>
        <c:crosses val="autoZero"/>
        <c:auto val="1"/>
        <c:lblAlgn val="ctr"/>
        <c:lblOffset val="100"/>
        <c:noMultiLvlLbl val="0"/>
      </c:catAx>
      <c:valAx>
        <c:axId val="-2113994440"/>
        <c:scaling/>
        <c:delete val="0"/>
        <c:axPos val="b"/>
        <c:majorGridlines>
          <c:spPr>
            <a:ln w="6350">
              <a:solidFill>
                <a:srgbClr val="E2E7EF"/>
              </a:solidFill>
            </a:ln>
          </c:spPr>
        </c:majorGridlines>
        <c:numFmt formatCode="#,##0,,&quot;M&quot;" sourceLinked="0"/>
        <c:majorTickMark val="out"/>
        <c:minorTickMark val="none"/>
        <c:tickLblPos val="nextTo"/>
        <c:spPr>
          <a:ln>
            <a:noFill/>
          </a:ln>
        </c:spPr>
        <c:crossAx val="-2068027336"/>
        <c:crosses val="autoZero"/>
      </c:valAx>
    </c:plotArea>
    <c:dispBlanksAs val="gap"/>
  </c:chart>
  <c:txPr>
    <a:bodyPr/>
    <a:lstStyle/>
    <a:p>
      <a:pPr>
        <a:defRPr sz="1000">
          <a:solidFill>
            <a:srgbClr val="445066"/>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Forecast</c:v>
                </c:pt>
              </c:strCache>
            </c:strRef>
          </c:tx>
          <c:spPr>
            <a:solidFill>
              <a:srgbClr val="2A78D6"/>
            </a:solidFill>
            <a:ln w="25400">
              <a:solidFill>
                <a:srgbClr val="2A78D6"/>
              </a:solidFill>
            </a:ln>
          </c:spPr>
          <c:marker>
            <c:symbol val="none"/>
          </c:marker>
          <c:cat>
            <c:strRef>
              <c:f>Sheet1!$A$2:$A$25</c:f>
              <c:strCache>
                <c:ptCount val="24"/>
                <c:pt idx="0">
                  <c:v>Jul 26</c:v>
                </c:pt>
                <c:pt idx="1">
                  <c:v>Aug 26</c:v>
                </c:pt>
                <c:pt idx="2">
                  <c:v>Sep 26</c:v>
                </c:pt>
                <c:pt idx="3">
                  <c:v>Oct 26</c:v>
                </c:pt>
                <c:pt idx="4">
                  <c:v>Nov 26</c:v>
                </c:pt>
                <c:pt idx="5">
                  <c:v>Dec 26</c:v>
                </c:pt>
                <c:pt idx="6">
                  <c:v>Jan 27</c:v>
                </c:pt>
                <c:pt idx="7">
                  <c:v>Feb 27</c:v>
                </c:pt>
                <c:pt idx="8">
                  <c:v>Mar 27</c:v>
                </c:pt>
                <c:pt idx="9">
                  <c:v>Apr 27</c:v>
                </c:pt>
                <c:pt idx="10">
                  <c:v>May 27</c:v>
                </c:pt>
                <c:pt idx="11">
                  <c:v>Jun 27</c:v>
                </c:pt>
                <c:pt idx="12">
                  <c:v>Jul 27</c:v>
                </c:pt>
                <c:pt idx="13">
                  <c:v>Aug 27</c:v>
                </c:pt>
                <c:pt idx="14">
                  <c:v>Sep 27</c:v>
                </c:pt>
                <c:pt idx="15">
                  <c:v>Oct 27</c:v>
                </c:pt>
                <c:pt idx="16">
                  <c:v>Nov 27</c:v>
                </c:pt>
                <c:pt idx="17">
                  <c:v>Dec 27</c:v>
                </c:pt>
                <c:pt idx="18">
                  <c:v>Jan 28</c:v>
                </c:pt>
                <c:pt idx="19">
                  <c:v>Feb 28</c:v>
                </c:pt>
                <c:pt idx="20">
                  <c:v>Mar 28</c:v>
                </c:pt>
                <c:pt idx="21">
                  <c:v>Apr 28</c:v>
                </c:pt>
                <c:pt idx="22">
                  <c:v>May 28</c:v>
                </c:pt>
                <c:pt idx="23">
                  <c:v>Jun 28</c:v>
                </c:pt>
              </c:strCache>
            </c:strRef>
          </c:cat>
          <c:val>
            <c:numRef>
              <c:f>Sheet1!$B$2:$B$25</c:f>
              <c:numCache>
                <c:formatCode>General</c:formatCode>
                <c:ptCount val="24"/>
                <c:pt idx="0">
                  <c:v>1612955.0732971015</c:v>
                </c:pt>
                <c:pt idx="1">
                  <c:v>1641045.957237136</c:v>
                </c:pt>
                <c:pt idx="2">
                  <c:v>1669136.8411771709</c:v>
                </c:pt>
                <c:pt idx="3">
                  <c:v>1697227.7251172056</c:v>
                </c:pt>
                <c:pt idx="4">
                  <c:v>1725318.6090572404</c:v>
                </c:pt>
                <c:pt idx="5">
                  <c:v>1753409.4929972752</c:v>
                </c:pt>
                <c:pt idx="6">
                  <c:v>1781500.3769373097</c:v>
                </c:pt>
                <c:pt idx="7">
                  <c:v>1809591.2608773448</c:v>
                </c:pt>
                <c:pt idx="8">
                  <c:v>1837682.1448173793</c:v>
                </c:pt>
                <c:pt idx="9">
                  <c:v>1865773.0287574143</c:v>
                </c:pt>
                <c:pt idx="10">
                  <c:v>1893863.9126974489</c:v>
                </c:pt>
                <c:pt idx="11">
                  <c:v>1921954.7966374836</c:v>
                </c:pt>
                <c:pt idx="12">
                  <c:v>1950045.6805775184</c:v>
                </c:pt>
                <c:pt idx="13">
                  <c:v>1978136.5645175532</c:v>
                </c:pt>
                <c:pt idx="14">
                  <c:v>2006227.448457588</c:v>
                </c:pt>
                <c:pt idx="15">
                  <c:v>2034318.3323976228</c:v>
                </c:pt>
                <c:pt idx="16">
                  <c:v>2062409.2163376575</c:v>
                </c:pt>
                <c:pt idx="17">
                  <c:v>2090500.1002776923</c:v>
                </c:pt>
                <c:pt idx="18">
                  <c:v>2118590.9842177266</c:v>
                </c:pt>
                <c:pt idx="19">
                  <c:v>2146681.8681577616</c:v>
                </c:pt>
                <c:pt idx="20">
                  <c:v>2174772.7520977966</c:v>
                </c:pt>
                <c:pt idx="21">
                  <c:v>2202863.636037831</c:v>
                </c:pt>
                <c:pt idx="22">
                  <c:v>2230954.5199778657</c:v>
                </c:pt>
                <c:pt idx="23">
                  <c:v>2259045.4039179008</c:v>
                </c:pt>
              </c:numCache>
            </c:numRef>
          </c:val>
          <c:smooth val="0"/>
        </c:ser>
        <c:ser>
          <c:idx val="1"/>
          <c:order val="1"/>
          <c:tx>
            <c:strRef>
              <c:f>Sheet1!$C$1</c:f>
              <c:strCache>
                <c:ptCount val="1"/>
                <c:pt idx="0">
                  <c:v>80% lower</c:v>
                </c:pt>
              </c:strCache>
            </c:strRef>
          </c:tx>
          <c:spPr>
            <a:solidFill>
              <a:srgbClr val="7A8599"/>
            </a:solidFill>
            <a:ln w="25400">
              <a:solidFill>
                <a:srgbClr val="7A8599"/>
              </a:solidFill>
            </a:ln>
          </c:spPr>
          <c:marker>
            <c:symbol val="none"/>
          </c:marker>
          <c:cat>
            <c:strRef>
              <c:f>Sheet1!$A$2:$A$25</c:f>
              <c:strCache>
                <c:ptCount val="24"/>
                <c:pt idx="0">
                  <c:v>Jul 26</c:v>
                </c:pt>
                <c:pt idx="1">
                  <c:v>Aug 26</c:v>
                </c:pt>
                <c:pt idx="2">
                  <c:v>Sep 26</c:v>
                </c:pt>
                <c:pt idx="3">
                  <c:v>Oct 26</c:v>
                </c:pt>
                <c:pt idx="4">
                  <c:v>Nov 26</c:v>
                </c:pt>
                <c:pt idx="5">
                  <c:v>Dec 26</c:v>
                </c:pt>
                <c:pt idx="6">
                  <c:v>Jan 27</c:v>
                </c:pt>
                <c:pt idx="7">
                  <c:v>Feb 27</c:v>
                </c:pt>
                <c:pt idx="8">
                  <c:v>Mar 27</c:v>
                </c:pt>
                <c:pt idx="9">
                  <c:v>Apr 27</c:v>
                </c:pt>
                <c:pt idx="10">
                  <c:v>May 27</c:v>
                </c:pt>
                <c:pt idx="11">
                  <c:v>Jun 27</c:v>
                </c:pt>
                <c:pt idx="12">
                  <c:v>Jul 27</c:v>
                </c:pt>
                <c:pt idx="13">
                  <c:v>Aug 27</c:v>
                </c:pt>
                <c:pt idx="14">
                  <c:v>Sep 27</c:v>
                </c:pt>
                <c:pt idx="15">
                  <c:v>Oct 27</c:v>
                </c:pt>
                <c:pt idx="16">
                  <c:v>Nov 27</c:v>
                </c:pt>
                <c:pt idx="17">
                  <c:v>Dec 27</c:v>
                </c:pt>
                <c:pt idx="18">
                  <c:v>Jan 28</c:v>
                </c:pt>
                <c:pt idx="19">
                  <c:v>Feb 28</c:v>
                </c:pt>
                <c:pt idx="20">
                  <c:v>Mar 28</c:v>
                </c:pt>
                <c:pt idx="21">
                  <c:v>Apr 28</c:v>
                </c:pt>
                <c:pt idx="22">
                  <c:v>May 28</c:v>
                </c:pt>
                <c:pt idx="23">
                  <c:v>Jun 28</c:v>
                </c:pt>
              </c:strCache>
            </c:strRef>
          </c:cat>
          <c:val>
            <c:numRef>
              <c:f>Sheet1!$C$2:$C$25</c:f>
              <c:numCache>
                <c:formatCode>General</c:formatCode>
                <c:ptCount val="24"/>
                <c:pt idx="0">
                  <c:v>1470786.8774910842</c:v>
                </c:pt>
                <c:pt idx="1">
                  <c:v>1439989.7665901526</c:v>
                </c:pt>
                <c:pt idx="2">
                  <c:v>1422894.3028207482</c:v>
                </c:pt>
                <c:pt idx="3">
                  <c:v>1412891.333505171</c:v>
                </c:pt>
                <c:pt idx="4">
                  <c:v>1407420.8589964851</c:v>
                </c:pt>
                <c:pt idx="5">
                  <c:v>1405169.9556204453</c:v>
                </c:pt>
                <c:pt idx="6">
                  <c:v>1405358.686491852</c:v>
                </c:pt>
                <c:pt idx="7">
                  <c:v>1407478.8795833776</c:v>
                </c:pt>
                <c:pt idx="8">
                  <c:v>1411177.5573993272</c:v>
                </c:pt>
                <c:pt idx="9">
                  <c:v>1416197.7191736018</c:v>
                </c:pt>
                <c:pt idx="10">
                  <c:v>1422345.3500871111</c:v>
                </c:pt>
                <c:pt idx="11">
                  <c:v>1429469.7199246383</c:v>
                </c:pt>
                <c:pt idx="12">
                  <c:v>1437450.9608587183</c:v>
                </c:pt>
                <c:pt idx="13">
                  <c:v>1446191.8845156443</c:v>
                </c:pt>
                <c:pt idx="14">
                  <c:v>1455612.3937405276</c:v>
                </c:pt>
                <c:pt idx="15">
                  <c:v>1465645.5491735532</c:v>
                </c:pt>
                <c:pt idx="16">
                  <c:v>1476234.7284259542</c:v>
                </c:pt>
                <c:pt idx="17">
                  <c:v>1487331.5283367417</c:v>
                </c:pt>
                <c:pt idx="18">
                  <c:v>1498894.1857137938</c:v>
                </c:pt>
                <c:pt idx="19">
                  <c:v>1510886.368036251</c:v>
                </c:pt>
                <c:pt idx="20">
                  <c:v>1523276.2334014187</c:v>
                </c:pt>
                <c:pt idx="21">
                  <c:v>1536035.6898836242</c:v>
                </c:pt>
                <c:pt idx="22">
                  <c:v>1549139.8049188724</c:v>
                </c:pt>
                <c:pt idx="23">
                  <c:v>1562566.329164241</c:v>
                </c:pt>
              </c:numCache>
            </c:numRef>
          </c:val>
          <c:smooth val="0"/>
        </c:ser>
        <c:ser>
          <c:idx val="2"/>
          <c:order val="2"/>
          <c:tx>
            <c:strRef>
              <c:f>Sheet1!$D$1</c:f>
              <c:strCache>
                <c:ptCount val="1"/>
                <c:pt idx="0">
                  <c:v>80% upper</c:v>
                </c:pt>
              </c:strCache>
            </c:strRef>
          </c:tx>
          <c:spPr>
            <a:solidFill>
              <a:srgbClr val="7A8599"/>
            </a:solidFill>
            <a:ln w="25400">
              <a:solidFill>
                <a:srgbClr val="7A8599"/>
              </a:solidFill>
            </a:ln>
          </c:spPr>
          <c:marker>
            <c:symbol val="none"/>
          </c:marker>
          <c:cat>
            <c:strRef>
              <c:f>Sheet1!$A$2:$A$25</c:f>
              <c:strCache>
                <c:ptCount val="24"/>
                <c:pt idx="0">
                  <c:v>Jul 26</c:v>
                </c:pt>
                <c:pt idx="1">
                  <c:v>Aug 26</c:v>
                </c:pt>
                <c:pt idx="2">
                  <c:v>Sep 26</c:v>
                </c:pt>
                <c:pt idx="3">
                  <c:v>Oct 26</c:v>
                </c:pt>
                <c:pt idx="4">
                  <c:v>Nov 26</c:v>
                </c:pt>
                <c:pt idx="5">
                  <c:v>Dec 26</c:v>
                </c:pt>
                <c:pt idx="6">
                  <c:v>Jan 27</c:v>
                </c:pt>
                <c:pt idx="7">
                  <c:v>Feb 27</c:v>
                </c:pt>
                <c:pt idx="8">
                  <c:v>Mar 27</c:v>
                </c:pt>
                <c:pt idx="9">
                  <c:v>Apr 27</c:v>
                </c:pt>
                <c:pt idx="10">
                  <c:v>May 27</c:v>
                </c:pt>
                <c:pt idx="11">
                  <c:v>Jun 27</c:v>
                </c:pt>
                <c:pt idx="12">
                  <c:v>Jul 27</c:v>
                </c:pt>
                <c:pt idx="13">
                  <c:v>Aug 27</c:v>
                </c:pt>
                <c:pt idx="14">
                  <c:v>Sep 27</c:v>
                </c:pt>
                <c:pt idx="15">
                  <c:v>Oct 27</c:v>
                </c:pt>
                <c:pt idx="16">
                  <c:v>Nov 27</c:v>
                </c:pt>
                <c:pt idx="17">
                  <c:v>Dec 27</c:v>
                </c:pt>
                <c:pt idx="18">
                  <c:v>Jan 28</c:v>
                </c:pt>
                <c:pt idx="19">
                  <c:v>Feb 28</c:v>
                </c:pt>
                <c:pt idx="20">
                  <c:v>Mar 28</c:v>
                </c:pt>
                <c:pt idx="21">
                  <c:v>Apr 28</c:v>
                </c:pt>
                <c:pt idx="22">
                  <c:v>May 28</c:v>
                </c:pt>
                <c:pt idx="23">
                  <c:v>Jun 28</c:v>
                </c:pt>
              </c:strCache>
            </c:strRef>
          </c:cat>
          <c:val>
            <c:numRef>
              <c:f>Sheet1!$D$2:$D$25</c:f>
              <c:numCache>
                <c:formatCode>General</c:formatCode>
                <c:ptCount val="24"/>
                <c:pt idx="0">
                  <c:v>1755123.269103119</c:v>
                </c:pt>
                <c:pt idx="1">
                  <c:v>1842102.1478841195</c:v>
                </c:pt>
                <c:pt idx="2">
                  <c:v>1915379.3795335935</c:v>
                </c:pt>
                <c:pt idx="3">
                  <c:v>1981564.1167292404</c:v>
                </c:pt>
                <c:pt idx="4">
                  <c:v>2043216.3591179957</c:v>
                </c:pt>
                <c:pt idx="5">
                  <c:v>2101649.030374105</c:v>
                </c:pt>
                <c:pt idx="6">
                  <c:v>2157642.067382768</c:v>
                </c:pt>
                <c:pt idx="7">
                  <c:v>2211703.6421713117</c:v>
                </c:pt>
                <c:pt idx="8">
                  <c:v>2264186.7322354317</c:v>
                </c:pt>
                <c:pt idx="9">
                  <c:v>2315348.338341227</c:v>
                </c:pt>
                <c:pt idx="10">
                  <c:v>2365382.475307787</c:v>
                </c:pt>
                <c:pt idx="11">
                  <c:v>2414439.8733503288</c:v>
                </c:pt>
                <c:pt idx="12">
                  <c:v>2462640.4002963183</c:v>
                </c:pt>
                <c:pt idx="13">
                  <c:v>2510081.244519462</c:v>
                </c:pt>
                <c:pt idx="14">
                  <c:v>2556842.5031746486</c:v>
                </c:pt>
                <c:pt idx="15">
                  <c:v>2602991.1156216925</c:v>
                </c:pt>
                <c:pt idx="16">
                  <c:v>2648583.7042493606</c:v>
                </c:pt>
                <c:pt idx="17">
                  <c:v>2693668.672218643</c:v>
                </c:pt>
                <c:pt idx="18">
                  <c:v>2738287.782721659</c:v>
                </c:pt>
                <c:pt idx="19">
                  <c:v>2782477.368279272</c:v>
                </c:pt>
                <c:pt idx="20">
                  <c:v>2826269.2707941746</c:v>
                </c:pt>
                <c:pt idx="21">
                  <c:v>2869691.582192038</c:v>
                </c:pt>
                <c:pt idx="22">
                  <c:v>2912769.2350368593</c:v>
                </c:pt>
                <c:pt idx="23">
                  <c:v>2955524.4786715605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2E7EF"/>
            </a:solidFill>
          </a:ln>
        </c:spPr>
        <c:txPr>
          <a:bodyPr/>
          <a:lstStyle/>
          <a:p>
            <a:pPr>
              <a:defRPr sz="700"/>
            </a:pPr>
          </a:p>
        </c:txPr>
        <c:crossAx val="2140495176"/>
        <c:crosses val="autoZero"/>
        <c:auto val="1"/>
        <c:lblAlgn val="ctr"/>
        <c:lblOffset val="100"/>
        <c:noMultiLvlLbl val="0"/>
      </c:catAx>
      <c:valAx>
        <c:axId val="2140495176"/>
        <c:scaling/>
        <c:delete val="0"/>
        <c:axPos val="l"/>
        <c:majorGridlines>
          <c:spPr>
            <a:ln w="6350">
              <a:solidFill>
                <a:srgbClr val="E2E7EF"/>
              </a:solidFill>
            </a:ln>
          </c:spPr>
        </c:majorGridlines>
        <c:numFmt formatCode="#,##0,,&quot;M&quot;" sourceLinked="0"/>
        <c:majorTickMark val="out"/>
        <c:minorTickMark val="none"/>
        <c:tickLblPos val="nextTo"/>
        <c:spPr>
          <a:ln>
            <a:noFill/>
          </a:ln>
        </c:spPr>
        <c:crossAx val="2118791784"/>
        <c:crosses val="autoZero"/>
      </c:valAx>
    </c:plotArea>
    <c:legend>
      <c:legendPos val="b"/>
      <c:layout/>
      <c:overlay val="0"/>
      <c:txPr>
        <a:bodyPr/>
        <a:lstStyle/>
        <a:p>
          <a:pPr>
            <a:defRPr sz="900"/>
          </a:pPr>
        </a:p>
      </c:txPr>
    </c:legend>
    <c:plotVisOnly val="1"/>
    <c:dispBlanksAs val="gap"/>
    <c:showDLblsOverMax val="0"/>
  </c:chart>
  <c:txPr>
    <a:bodyPr/>
    <a:lstStyle/>
    <a:p>
      <a:pPr>
        <a:defRPr sz="1000">
          <a:solidFill>
            <a:srgbClr val="445066"/>
          </a:solidFill>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Annual savings</c:v>
                </c:pt>
              </c:strCache>
            </c:strRef>
          </c:tx>
          <c:spPr>
            <a:solidFill>
              <a:srgbClr val="2A78D6"/>
            </a:solidFill>
            <a:ln w="25400">
              <a:solidFill>
                <a:srgbClr val="2A78D6"/>
              </a:solidFill>
            </a:ln>
          </c:spPr>
          <c:cat>
            <c:strRef>
              <c:f>Sheet1!$A$2:$A$4</c:f>
              <c:strCache>
                <c:ptCount val="3"/>
                <c:pt idx="0">
                  <c:v>Rate</c:v>
                </c:pt>
                <c:pt idx="1">
                  <c:v>Usage</c:v>
                </c:pt>
                <c:pt idx="2">
                  <c:v>AI/GPU</c:v>
                </c:pt>
              </c:strCache>
            </c:strRef>
          </c:cat>
          <c:val>
            <c:numRef>
              <c:f>Sheet1!$B$2:$B$4</c:f>
              <c:numCache>
                <c:formatCode>General</c:formatCode>
                <c:ptCount val="3"/>
                <c:pt idx="0">
                  <c:v>3419984.6399999997</c:v>
                </c:pt>
                <c:pt idx="1">
                  <c:v>1316361.72</c:v>
                </c:pt>
                <c:pt idx="2">
                  <c:v>209957.28</c:v>
                </c:pt>
              </c:numCache>
            </c:numRef>
          </c:val>
        </c:ser>
        <c:axId val="-2068027336"/>
        <c:axId val="-2113994440"/>
      </c:barChart>
      <c:catAx>
        <c:axId val="-2068027336"/>
        <c:scaling>
          <c:orientation val="minMax"/>
        </c:scaling>
        <c:delete val="0"/>
        <c:axPos val="b"/>
        <c:majorTickMark val="out"/>
        <c:minorTickMark val="none"/>
        <c:tickLblPos val="nextTo"/>
        <c:spPr>
          <a:ln>
            <a:solidFill>
              <a:srgbClr val="E2E7EF"/>
            </a:solidFill>
          </a:ln>
        </c:spPr>
        <c:crossAx val="-2113994440"/>
        <c:crosses val="autoZero"/>
        <c:auto val="1"/>
        <c:lblAlgn val="ctr"/>
        <c:lblOffset val="100"/>
        <c:noMultiLvlLbl val="0"/>
      </c:catAx>
      <c:valAx>
        <c:axId val="-2113994440"/>
        <c:scaling/>
        <c:delete val="0"/>
        <c:axPos val="l"/>
        <c:majorGridlines>
          <c:spPr>
            <a:ln w="6350">
              <a:solidFill>
                <a:srgbClr val="E2E7EF"/>
              </a:solidFill>
            </a:ln>
          </c:spPr>
        </c:majorGridlines>
        <c:numFmt formatCode="#,##0,,&quot;M&quot;" sourceLinked="0"/>
        <c:majorTickMark val="out"/>
        <c:minorTickMark val="none"/>
        <c:tickLblPos val="nextTo"/>
        <c:spPr>
          <a:ln>
            <a:noFill/>
          </a:ln>
        </c:spPr>
        <c:crossAx val="-2068027336"/>
        <c:crosses val="autoZero"/>
      </c:valAx>
    </c:plotArea>
    <c:dispBlanksAs val="gap"/>
  </c:chart>
  <c:txPr>
    <a:bodyPr/>
    <a:lstStyle/>
    <a:p>
      <a:pPr>
        <a:defRPr sz="1000">
          <a:solidFill>
            <a:srgbClr val="445066"/>
          </a:solidFill>
          <a:latin typeface="Segoe U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2377440"/>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685800"/>
            <a:ext cx="5486400" cy="320040"/>
          </a:xfrm>
          <a:prstGeom prst="rect">
            <a:avLst/>
          </a:prstGeom>
          <a:noFill/>
        </p:spPr>
        <p:txBody>
          <a:bodyPr wrap="square">
            <a:spAutoFit/>
          </a:bodyPr>
          <a:lstStyle/>
          <a:p>
            <a:pPr algn="l">
              <a:spcAft>
                <a:spcPts val="400"/>
              </a:spcAft>
            </a:pPr>
            <a:r>
              <a:rPr sz="1200" b="1">
                <a:solidFill>
                  <a:srgbClr val="1E6FD9"/>
                </a:solidFill>
                <a:latin typeface="Segoe UI"/>
              </a:rPr>
              <a:t>INFOSYS</a:t>
            </a:r>
          </a:p>
        </p:txBody>
      </p:sp>
      <p:sp>
        <p:nvSpPr>
          <p:cNvPr id="4" name="TextBox 3"/>
          <p:cNvSpPr txBox="1"/>
          <p:nvPr/>
        </p:nvSpPr>
        <p:spPr>
          <a:xfrm>
            <a:off x="822960" y="960120"/>
            <a:ext cx="10058400" cy="822960"/>
          </a:xfrm>
          <a:prstGeom prst="rect">
            <a:avLst/>
          </a:prstGeom>
          <a:noFill/>
        </p:spPr>
        <p:txBody>
          <a:bodyPr wrap="square">
            <a:spAutoFit/>
          </a:bodyPr>
          <a:lstStyle/>
          <a:p>
            <a:pPr algn="l">
              <a:spcAft>
                <a:spcPts val="400"/>
              </a:spcAft>
            </a:pPr>
            <a:r>
              <a:rPr sz="4000" b="1">
                <a:solidFill>
                  <a:srgbClr val="0B142A"/>
                </a:solidFill>
                <a:latin typeface="Segoe UI"/>
              </a:rPr>
              <a:t>Multi-Cloud FinOps Command Center</a:t>
            </a:r>
          </a:p>
        </p:txBody>
      </p:sp>
      <p:sp>
        <p:nvSpPr>
          <p:cNvPr id="5" name="TextBox 4"/>
          <p:cNvSpPr txBox="1"/>
          <p:nvPr/>
        </p:nvSpPr>
        <p:spPr>
          <a:xfrm>
            <a:off x="822960" y="1783080"/>
            <a:ext cx="10058400" cy="457200"/>
          </a:xfrm>
          <a:prstGeom prst="rect">
            <a:avLst/>
          </a:prstGeom>
          <a:noFill/>
        </p:spPr>
        <p:txBody>
          <a:bodyPr wrap="square">
            <a:spAutoFit/>
          </a:bodyPr>
          <a:lstStyle/>
          <a:p>
            <a:pPr algn="l">
              <a:spcAft>
                <a:spcPts val="400"/>
              </a:spcAft>
            </a:pPr>
            <a:r>
              <a:rPr sz="1600" b="0">
                <a:solidFill>
                  <a:srgbClr val="445066"/>
                </a:solidFill>
                <a:latin typeface="Segoe UI"/>
              </a:rPr>
              <a:t>A single plane of control for AWS, Azure and GCP spend</a:t>
            </a:r>
          </a:p>
        </p:txBody>
      </p:sp>
      <p:sp>
        <p:nvSpPr>
          <p:cNvPr id="6" name="TextBox 5"/>
          <p:cNvSpPr txBox="1"/>
          <p:nvPr/>
        </p:nvSpPr>
        <p:spPr>
          <a:xfrm>
            <a:off x="822960" y="2834640"/>
            <a:ext cx="10058400" cy="365760"/>
          </a:xfrm>
          <a:prstGeom prst="rect">
            <a:avLst/>
          </a:prstGeom>
          <a:noFill/>
        </p:spPr>
        <p:txBody>
          <a:bodyPr wrap="square">
            <a:spAutoFit/>
          </a:bodyPr>
          <a:lstStyle/>
          <a:p>
            <a:pPr algn="l">
              <a:spcAft>
                <a:spcPts val="400"/>
              </a:spcAft>
            </a:pPr>
            <a:r>
              <a:rPr sz="1500" b="1">
                <a:solidFill>
                  <a:srgbClr val="0B142A"/>
                </a:solidFill>
                <a:latin typeface="Segoe UI"/>
              </a:rPr>
              <a:t>Prepared for Con Edison</a:t>
            </a:r>
          </a:p>
        </p:txBody>
      </p:sp>
      <p:sp>
        <p:nvSpPr>
          <p:cNvPr id="7" name="TextBox 6"/>
          <p:cNvSpPr txBox="1"/>
          <p:nvPr/>
        </p:nvSpPr>
        <p:spPr>
          <a:xfrm>
            <a:off x="822960" y="3291840"/>
            <a:ext cx="10515600" cy="2011680"/>
          </a:xfrm>
          <a:prstGeom prst="rect">
            <a:avLst/>
          </a:prstGeom>
          <a:noFill/>
        </p:spPr>
        <p:txBody>
          <a:bodyPr wrap="square">
            <a:spAutoFit/>
          </a:bodyPr>
          <a:lstStyle/>
          <a:p>
            <a:pPr>
              <a:spcAft>
                <a:spcPts val="900"/>
              </a:spcAft>
            </a:pPr>
            <a:r>
              <a:rPr sz="1350">
                <a:solidFill>
                  <a:srgbClr val="445066"/>
                </a:solidFill>
                <a:latin typeface="Segoe UI"/>
              </a:rPr>
              <a:t>—  VP and Director visibility by application, business unit and environment</a:t>
            </a:r>
          </a:p>
          <a:p>
            <a:pPr>
              <a:spcAft>
                <a:spcPts val="900"/>
              </a:spcAft>
            </a:pPr>
            <a:r>
              <a:rPr sz="1350">
                <a:solidFill>
                  <a:srgbClr val="445066"/>
                </a:solidFill>
                <a:latin typeface="Segoe UI"/>
              </a:rPr>
              <a:t>—  Showback and chargeback with a defensible shared-cost split</a:t>
            </a:r>
          </a:p>
          <a:p>
            <a:pPr>
              <a:spcAft>
                <a:spcPts val="900"/>
              </a:spcAft>
            </a:pPr>
            <a:r>
              <a:rPr sz="1350">
                <a:solidFill>
                  <a:srgbClr val="445066"/>
                </a:solidFill>
                <a:latin typeface="Segoe UI"/>
              </a:rPr>
              <a:t>—  A 24-month forecast against budget that sees the commitment cliff</a:t>
            </a:r>
          </a:p>
          <a:p>
            <a:pPr>
              <a:spcAft>
                <a:spcPts val="900"/>
              </a:spcAft>
            </a:pPr>
            <a:r>
              <a:rPr sz="1350">
                <a:solidFill>
                  <a:srgbClr val="445066"/>
                </a:solidFill>
                <a:latin typeface="Segoe UI"/>
              </a:rPr>
              <a:t>—  53 FinOps optimization levers, detected from the bill itself</a:t>
            </a:r>
          </a:p>
          <a:p>
            <a:pPr>
              <a:spcAft>
                <a:spcPts val="900"/>
              </a:spcAft>
            </a:pPr>
            <a:r>
              <a:rPr sz="1350">
                <a:solidFill>
                  <a:srgbClr val="445066"/>
                </a:solidFill>
                <a:latin typeface="Segoe UI"/>
              </a:rPr>
              <a:t>—  Vendor-neutral: 17 connectors, one FOCUS schema underneath</a:t>
            </a:r>
          </a:p>
        </p:txBody>
      </p:sp>
      <p:sp>
        <p:nvSpPr>
          <p:cNvPr id="8" name="TextBox 7"/>
          <p:cNvSpPr txBox="1"/>
          <p:nvPr/>
        </p:nvSpPr>
        <p:spPr>
          <a:xfrm>
            <a:off x="640080" y="6355080"/>
            <a:ext cx="8229600" cy="274320"/>
          </a:xfrm>
          <a:prstGeom prst="rect">
            <a:avLst/>
          </a:prstGeom>
          <a:noFill/>
        </p:spPr>
        <p:txBody>
          <a:bodyPr wrap="square">
            <a:spAutoFit/>
          </a:bodyPr>
          <a:lstStyle/>
          <a:p>
            <a:pPr algn="l">
              <a:spcAft>
                <a:spcPts val="400"/>
              </a:spcAft>
            </a:pPr>
            <a:r>
              <a:rPr sz="850" b="0">
                <a:solidFill>
                  <a:srgbClr val="7A8599"/>
                </a:solidFill>
                <a:latin typeface="Segoe UI"/>
              </a:rPr>
              <a:t>Infosys · Con Edison · FinOps Solution Overview</a:t>
            </a:r>
          </a:p>
        </p:txBody>
      </p:sp>
      <p:sp>
        <p:nvSpPr>
          <p:cNvPr id="9" name="TextBox 8"/>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THE PROBLEM</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800" b="1">
                <a:solidFill>
                  <a:srgbClr val="0B142A"/>
                </a:solidFill>
                <a:latin typeface="Segoe UI"/>
              </a:rPr>
              <a:t>Three clouds, three answers, no single truth</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Why multi-cloud FinOps is hard before it is expensive</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65960"/>
            <a:ext cx="10881360" cy="749808"/>
          </a:xfrm>
          <a:prstGeom prst="roundRect">
            <a:avLst>
              <a:gd name="adj" fmla="val 6000"/>
            </a:avLst>
          </a:prstGeom>
          <a:solidFill>
            <a:srgbClr val="F5F8FC"/>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2075688"/>
            <a:ext cx="2651760" cy="365760"/>
          </a:xfrm>
          <a:prstGeom prst="rect">
            <a:avLst/>
          </a:prstGeom>
          <a:noFill/>
        </p:spPr>
        <p:txBody>
          <a:bodyPr wrap="square">
            <a:spAutoFit/>
          </a:bodyPr>
          <a:lstStyle/>
          <a:p>
            <a:pPr algn="l">
              <a:spcAft>
                <a:spcPts val="400"/>
              </a:spcAft>
            </a:pPr>
            <a:r>
              <a:rPr sz="1300" b="1">
                <a:solidFill>
                  <a:srgbClr val="0B142A"/>
                </a:solidFill>
                <a:latin typeface="Segoe UI"/>
              </a:rPr>
              <a:t>Fragmented data</a:t>
            </a:r>
          </a:p>
        </p:txBody>
      </p:sp>
      <p:sp>
        <p:nvSpPr>
          <p:cNvPr id="8" name="TextBox 7"/>
          <p:cNvSpPr txBox="1"/>
          <p:nvPr/>
        </p:nvSpPr>
        <p:spPr>
          <a:xfrm>
            <a:off x="3611880" y="2075688"/>
            <a:ext cx="7680960" cy="548640"/>
          </a:xfrm>
          <a:prstGeom prst="rect">
            <a:avLst/>
          </a:prstGeom>
          <a:noFill/>
        </p:spPr>
        <p:txBody>
          <a:bodyPr wrap="square">
            <a:spAutoFit/>
          </a:bodyPr>
          <a:lstStyle/>
          <a:p>
            <a:pPr algn="l">
              <a:spcAft>
                <a:spcPts val="400"/>
              </a:spcAft>
            </a:pPr>
            <a:r>
              <a:rPr sz="1150" b="0">
                <a:solidFill>
                  <a:srgbClr val="445066"/>
                </a:solidFill>
                <a:latin typeface="Segoe UI"/>
              </a:rPr>
              <a:t>Each provider bills in its own schema. Reconciling AWS, Azure and GCP by hand is a monthly project, not a dashboard.</a:t>
            </a:r>
          </a:p>
        </p:txBody>
      </p:sp>
      <p:sp>
        <p:nvSpPr>
          <p:cNvPr id="9" name="Rounded Rectangle 8"/>
          <p:cNvSpPr/>
          <p:nvPr/>
        </p:nvSpPr>
        <p:spPr>
          <a:xfrm>
            <a:off x="640080" y="2807208"/>
            <a:ext cx="10881360" cy="749808"/>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2916936"/>
            <a:ext cx="2651760" cy="365760"/>
          </a:xfrm>
          <a:prstGeom prst="rect">
            <a:avLst/>
          </a:prstGeom>
          <a:noFill/>
        </p:spPr>
        <p:txBody>
          <a:bodyPr wrap="square">
            <a:spAutoFit/>
          </a:bodyPr>
          <a:lstStyle/>
          <a:p>
            <a:pPr algn="l">
              <a:spcAft>
                <a:spcPts val="400"/>
              </a:spcAft>
            </a:pPr>
            <a:r>
              <a:rPr sz="1300" b="1">
                <a:solidFill>
                  <a:srgbClr val="0B142A"/>
                </a:solidFill>
                <a:latin typeface="Segoe UI"/>
              </a:rPr>
              <a:t>Tool lock-in</a:t>
            </a:r>
          </a:p>
        </p:txBody>
      </p:sp>
      <p:sp>
        <p:nvSpPr>
          <p:cNvPr id="11" name="TextBox 10"/>
          <p:cNvSpPr txBox="1"/>
          <p:nvPr/>
        </p:nvSpPr>
        <p:spPr>
          <a:xfrm>
            <a:off x="3611880" y="2916936"/>
            <a:ext cx="7680960" cy="548640"/>
          </a:xfrm>
          <a:prstGeom prst="rect">
            <a:avLst/>
          </a:prstGeom>
          <a:noFill/>
        </p:spPr>
        <p:txBody>
          <a:bodyPr wrap="square">
            <a:spAutoFit/>
          </a:bodyPr>
          <a:lstStyle/>
          <a:p>
            <a:pPr algn="l">
              <a:spcAft>
                <a:spcPts val="400"/>
              </a:spcAft>
            </a:pPr>
            <a:r>
              <a:rPr sz="1150" b="0">
                <a:solidFill>
                  <a:srgbClr val="445066"/>
                </a:solidFill>
                <a:latin typeface="Segoe UI"/>
              </a:rPr>
              <a:t>Pick a FinOps platform and every dashboard, KPI and script is written against that vendor's field names. Switching means rebuilding.</a:t>
            </a:r>
          </a:p>
        </p:txBody>
      </p:sp>
      <p:sp>
        <p:nvSpPr>
          <p:cNvPr id="12" name="Rounded Rectangle 11"/>
          <p:cNvSpPr/>
          <p:nvPr/>
        </p:nvSpPr>
        <p:spPr>
          <a:xfrm>
            <a:off x="640080" y="3648456"/>
            <a:ext cx="10881360" cy="749808"/>
          </a:xfrm>
          <a:prstGeom prst="roundRect">
            <a:avLst>
              <a:gd name="adj" fmla="val 6000"/>
            </a:avLst>
          </a:prstGeom>
          <a:solidFill>
            <a:srgbClr val="F5F8FC"/>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68680" y="3758184"/>
            <a:ext cx="2651760" cy="365760"/>
          </a:xfrm>
          <a:prstGeom prst="rect">
            <a:avLst/>
          </a:prstGeom>
          <a:noFill/>
        </p:spPr>
        <p:txBody>
          <a:bodyPr wrap="square">
            <a:spAutoFit/>
          </a:bodyPr>
          <a:lstStyle/>
          <a:p>
            <a:pPr algn="l">
              <a:spcAft>
                <a:spcPts val="400"/>
              </a:spcAft>
            </a:pPr>
            <a:r>
              <a:rPr sz="1300" b="1">
                <a:solidFill>
                  <a:srgbClr val="0B142A"/>
                </a:solidFill>
                <a:latin typeface="Segoe UI"/>
              </a:rPr>
              <a:t>Unallocated spend</a:t>
            </a:r>
          </a:p>
        </p:txBody>
      </p:sp>
      <p:sp>
        <p:nvSpPr>
          <p:cNvPr id="14" name="TextBox 13"/>
          <p:cNvSpPr txBox="1"/>
          <p:nvPr/>
        </p:nvSpPr>
        <p:spPr>
          <a:xfrm>
            <a:off x="3611880" y="3758184"/>
            <a:ext cx="7680960" cy="548640"/>
          </a:xfrm>
          <a:prstGeom prst="rect">
            <a:avLst/>
          </a:prstGeom>
          <a:noFill/>
        </p:spPr>
        <p:txBody>
          <a:bodyPr wrap="square">
            <a:spAutoFit/>
          </a:bodyPr>
          <a:lstStyle/>
          <a:p>
            <a:pPr algn="l">
              <a:spcAft>
                <a:spcPts val="400"/>
              </a:spcAft>
            </a:pPr>
            <a:r>
              <a:rPr sz="1150" b="0">
                <a:solidFill>
                  <a:srgbClr val="445066"/>
                </a:solidFill>
                <a:latin typeface="Segoe UI"/>
              </a:rPr>
              <a:t>Untagged resources land in a bucket nobody owns, so chargeback is disputed and showback is ignored.</a:t>
            </a:r>
          </a:p>
        </p:txBody>
      </p:sp>
      <p:sp>
        <p:nvSpPr>
          <p:cNvPr id="15" name="Rounded Rectangle 14"/>
          <p:cNvSpPr/>
          <p:nvPr/>
        </p:nvSpPr>
        <p:spPr>
          <a:xfrm>
            <a:off x="640080" y="4489704"/>
            <a:ext cx="10881360" cy="749808"/>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68680" y="4599432"/>
            <a:ext cx="2651760" cy="365760"/>
          </a:xfrm>
          <a:prstGeom prst="rect">
            <a:avLst/>
          </a:prstGeom>
          <a:noFill/>
        </p:spPr>
        <p:txBody>
          <a:bodyPr wrap="square">
            <a:spAutoFit/>
          </a:bodyPr>
          <a:lstStyle/>
          <a:p>
            <a:pPr algn="l">
              <a:spcAft>
                <a:spcPts val="400"/>
              </a:spcAft>
            </a:pPr>
            <a:r>
              <a:rPr sz="1300" b="1">
                <a:solidFill>
                  <a:srgbClr val="0B142A"/>
                </a:solidFill>
                <a:latin typeface="Segoe UI"/>
              </a:rPr>
              <a:t>Blind forecasting</a:t>
            </a:r>
          </a:p>
        </p:txBody>
      </p:sp>
      <p:sp>
        <p:nvSpPr>
          <p:cNvPr id="17" name="TextBox 16"/>
          <p:cNvSpPr txBox="1"/>
          <p:nvPr/>
        </p:nvSpPr>
        <p:spPr>
          <a:xfrm>
            <a:off x="3611880" y="4599432"/>
            <a:ext cx="7680960" cy="548640"/>
          </a:xfrm>
          <a:prstGeom prst="rect">
            <a:avLst/>
          </a:prstGeom>
          <a:noFill/>
        </p:spPr>
        <p:txBody>
          <a:bodyPr wrap="square">
            <a:spAutoFit/>
          </a:bodyPr>
          <a:lstStyle/>
          <a:p>
            <a:pPr algn="l">
              <a:spcAft>
                <a:spcPts val="400"/>
              </a:spcAft>
            </a:pPr>
            <a:r>
              <a:rPr sz="1150" b="0">
                <a:solidFill>
                  <a:srgbClr val="445066"/>
                </a:solidFill>
                <a:latin typeface="Segoe UI"/>
              </a:rPr>
              <a:t>A trend line walks straight through a commitment expiry. The rate snaps back to on-demand and the variance lands unannounced.</a:t>
            </a:r>
          </a:p>
        </p:txBody>
      </p:sp>
      <p:sp>
        <p:nvSpPr>
          <p:cNvPr id="18" name="Rounded Rectangle 17"/>
          <p:cNvSpPr/>
          <p:nvPr/>
        </p:nvSpPr>
        <p:spPr>
          <a:xfrm>
            <a:off x="640080" y="5330952"/>
            <a:ext cx="10881360" cy="749808"/>
          </a:xfrm>
          <a:prstGeom prst="roundRect">
            <a:avLst>
              <a:gd name="adj" fmla="val 6000"/>
            </a:avLst>
          </a:prstGeom>
          <a:solidFill>
            <a:srgbClr val="F5F8FC"/>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68680" y="5440680"/>
            <a:ext cx="2651760" cy="365760"/>
          </a:xfrm>
          <a:prstGeom prst="rect">
            <a:avLst/>
          </a:prstGeom>
          <a:noFill/>
        </p:spPr>
        <p:txBody>
          <a:bodyPr wrap="square">
            <a:spAutoFit/>
          </a:bodyPr>
          <a:lstStyle/>
          <a:p>
            <a:pPr algn="l">
              <a:spcAft>
                <a:spcPts val="400"/>
              </a:spcAft>
            </a:pPr>
            <a:r>
              <a:rPr sz="1300" b="1">
                <a:solidFill>
                  <a:srgbClr val="0B142A"/>
                </a:solidFill>
                <a:latin typeface="Segoe UI"/>
              </a:rPr>
              <a:t>Waste is invisible</a:t>
            </a:r>
          </a:p>
        </p:txBody>
      </p:sp>
      <p:sp>
        <p:nvSpPr>
          <p:cNvPr id="20" name="TextBox 19"/>
          <p:cNvSpPr txBox="1"/>
          <p:nvPr/>
        </p:nvSpPr>
        <p:spPr>
          <a:xfrm>
            <a:off x="3611880" y="5440680"/>
            <a:ext cx="7680960" cy="548640"/>
          </a:xfrm>
          <a:prstGeom prst="rect">
            <a:avLst/>
          </a:prstGeom>
          <a:noFill/>
        </p:spPr>
        <p:txBody>
          <a:bodyPr wrap="square">
            <a:spAutoFit/>
          </a:bodyPr>
          <a:lstStyle/>
          <a:p>
            <a:pPr algn="l">
              <a:spcAft>
                <a:spcPts val="400"/>
              </a:spcAft>
            </a:pPr>
            <a:r>
              <a:rPr sz="1150" b="0">
                <a:solidFill>
                  <a:srgbClr val="445066"/>
                </a:solidFill>
                <a:latin typeface="Segoe UI"/>
              </a:rPr>
              <a:t>Unused commitment and idle resources do not announce themselves; they arrive as a slightly larger invoice.</a:t>
            </a:r>
          </a:p>
        </p:txBody>
      </p:sp>
      <p:sp>
        <p:nvSpPr>
          <p:cNvPr id="21" name="TextBox 20"/>
          <p:cNvSpPr txBox="1"/>
          <p:nvPr/>
        </p:nvSpPr>
        <p:spPr>
          <a:xfrm>
            <a:off x="640080" y="6355080"/>
            <a:ext cx="8229600" cy="274320"/>
          </a:xfrm>
          <a:prstGeom prst="rect">
            <a:avLst/>
          </a:prstGeom>
          <a:noFill/>
        </p:spPr>
        <p:txBody>
          <a:bodyPr wrap="square">
            <a:spAutoFit/>
          </a:bodyPr>
          <a:lstStyle/>
          <a:p>
            <a:pPr algn="l">
              <a:spcAft>
                <a:spcPts val="400"/>
              </a:spcAft>
            </a:pPr>
          </a:p>
        </p:txBody>
      </p:sp>
      <p:sp>
        <p:nvSpPr>
          <p:cNvPr id="22" name="TextBox 21"/>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THE APPROACH</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800" b="1">
                <a:solidFill>
                  <a:srgbClr val="0B142A"/>
                </a:solidFill>
                <a:latin typeface="Segoe UI"/>
              </a:rPr>
              <a:t>One idea: normalise everything to FOCUS</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The FinOps Foundation's Open Cost and Usage Specification is the contract</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103120"/>
            <a:ext cx="2651760" cy="50292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03704"/>
            <a:ext cx="2468880" cy="320040"/>
          </a:xfrm>
          <a:prstGeom prst="rect">
            <a:avLst/>
          </a:prstGeom>
          <a:noFill/>
        </p:spPr>
        <p:txBody>
          <a:bodyPr wrap="square">
            <a:spAutoFit/>
          </a:bodyPr>
          <a:lstStyle/>
          <a:p>
            <a:pPr algn="l">
              <a:spcAft>
                <a:spcPts val="400"/>
              </a:spcAft>
            </a:pPr>
            <a:r>
              <a:rPr sz="1100" b="0">
                <a:solidFill>
                  <a:srgbClr val="445066"/>
                </a:solidFill>
                <a:latin typeface="Segoe UI"/>
              </a:rPr>
              <a:t>AWS Data Exports</a:t>
            </a:r>
          </a:p>
        </p:txBody>
      </p:sp>
      <p:sp>
        <p:nvSpPr>
          <p:cNvPr id="8" name="Rounded Rectangle 7"/>
          <p:cNvSpPr/>
          <p:nvPr/>
        </p:nvSpPr>
        <p:spPr>
          <a:xfrm>
            <a:off x="640080" y="2724912"/>
            <a:ext cx="2651760" cy="50292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825496"/>
            <a:ext cx="2468880" cy="320040"/>
          </a:xfrm>
          <a:prstGeom prst="rect">
            <a:avLst/>
          </a:prstGeom>
          <a:noFill/>
        </p:spPr>
        <p:txBody>
          <a:bodyPr wrap="square">
            <a:spAutoFit/>
          </a:bodyPr>
          <a:lstStyle/>
          <a:p>
            <a:pPr algn="l">
              <a:spcAft>
                <a:spcPts val="400"/>
              </a:spcAft>
            </a:pPr>
            <a:r>
              <a:rPr sz="1100" b="0">
                <a:solidFill>
                  <a:srgbClr val="445066"/>
                </a:solidFill>
                <a:latin typeface="Segoe UI"/>
              </a:rPr>
              <a:t>Azure Cost Management</a:t>
            </a:r>
          </a:p>
        </p:txBody>
      </p:sp>
      <p:sp>
        <p:nvSpPr>
          <p:cNvPr id="10" name="Rounded Rectangle 9"/>
          <p:cNvSpPr/>
          <p:nvPr/>
        </p:nvSpPr>
        <p:spPr>
          <a:xfrm>
            <a:off x="640080" y="3346704"/>
            <a:ext cx="2651760" cy="50292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447288"/>
            <a:ext cx="2468880" cy="320040"/>
          </a:xfrm>
          <a:prstGeom prst="rect">
            <a:avLst/>
          </a:prstGeom>
          <a:noFill/>
        </p:spPr>
        <p:txBody>
          <a:bodyPr wrap="square">
            <a:spAutoFit/>
          </a:bodyPr>
          <a:lstStyle/>
          <a:p>
            <a:pPr algn="l">
              <a:spcAft>
                <a:spcPts val="400"/>
              </a:spcAft>
            </a:pPr>
            <a:r>
              <a:rPr sz="1100" b="0">
                <a:solidFill>
                  <a:srgbClr val="445066"/>
                </a:solidFill>
                <a:latin typeface="Segoe UI"/>
              </a:rPr>
              <a:t>GCP Billing Export</a:t>
            </a:r>
          </a:p>
        </p:txBody>
      </p:sp>
      <p:sp>
        <p:nvSpPr>
          <p:cNvPr id="12" name="Rounded Rectangle 11"/>
          <p:cNvSpPr/>
          <p:nvPr/>
        </p:nvSpPr>
        <p:spPr>
          <a:xfrm>
            <a:off x="640080" y="3968496"/>
            <a:ext cx="2651760" cy="50292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 y="4069080"/>
            <a:ext cx="2468880" cy="320040"/>
          </a:xfrm>
          <a:prstGeom prst="rect">
            <a:avLst/>
          </a:prstGeom>
          <a:noFill/>
        </p:spPr>
        <p:txBody>
          <a:bodyPr wrap="square">
            <a:spAutoFit/>
          </a:bodyPr>
          <a:lstStyle/>
          <a:p>
            <a:pPr algn="l">
              <a:spcAft>
                <a:spcPts val="400"/>
              </a:spcAft>
            </a:pPr>
            <a:r>
              <a:rPr sz="1100" b="0">
                <a:solidFill>
                  <a:srgbClr val="445066"/>
                </a:solidFill>
                <a:latin typeface="Segoe UI"/>
              </a:rPr>
              <a:t>Any procured FinOps tool</a:t>
            </a:r>
          </a:p>
        </p:txBody>
      </p:sp>
      <p:sp>
        <p:nvSpPr>
          <p:cNvPr id="14" name="Rounded Rectangle 13"/>
          <p:cNvSpPr/>
          <p:nvPr/>
        </p:nvSpPr>
        <p:spPr>
          <a:xfrm>
            <a:off x="640080" y="4590288"/>
            <a:ext cx="2651760" cy="50292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4690872"/>
            <a:ext cx="2468880" cy="320040"/>
          </a:xfrm>
          <a:prstGeom prst="rect">
            <a:avLst/>
          </a:prstGeom>
          <a:noFill/>
        </p:spPr>
        <p:txBody>
          <a:bodyPr wrap="square">
            <a:spAutoFit/>
          </a:bodyPr>
          <a:lstStyle/>
          <a:p>
            <a:pPr algn="l">
              <a:spcAft>
                <a:spcPts val="400"/>
              </a:spcAft>
            </a:pPr>
            <a:r>
              <a:rPr sz="1100" b="0">
                <a:solidFill>
                  <a:srgbClr val="445066"/>
                </a:solidFill>
                <a:latin typeface="Segoe UI"/>
              </a:rPr>
              <a:t>Any FOCUS CSV / Parquet</a:t>
            </a:r>
          </a:p>
        </p:txBody>
      </p:sp>
      <p:sp>
        <p:nvSpPr>
          <p:cNvPr id="16" name="Rounded Rectangle 15"/>
          <p:cNvSpPr/>
          <p:nvPr/>
        </p:nvSpPr>
        <p:spPr>
          <a:xfrm>
            <a:off x="3657600" y="2103120"/>
            <a:ext cx="1371600" cy="2487168"/>
          </a:xfrm>
          <a:prstGeom prst="roundRect">
            <a:avLst>
              <a:gd name="adj" fmla="val 6000"/>
            </a:avLst>
          </a:prstGeom>
          <a:solidFill>
            <a:srgbClr val="F5F8FC"/>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703320" y="3063240"/>
            <a:ext cx="1280160" cy="457200"/>
          </a:xfrm>
          <a:prstGeom prst="rect">
            <a:avLst/>
          </a:prstGeom>
          <a:noFill/>
        </p:spPr>
        <p:txBody>
          <a:bodyPr wrap="square">
            <a:spAutoFit/>
          </a:bodyPr>
          <a:lstStyle/>
          <a:p>
            <a:pPr algn="ctr">
              <a:spcAft>
                <a:spcPts val="400"/>
              </a:spcAft>
            </a:pPr>
            <a:r>
              <a:rPr sz="1100" b="1">
                <a:solidFill>
                  <a:srgbClr val="445066"/>
                </a:solidFill>
                <a:latin typeface="Segoe UI"/>
              </a:rPr>
              <a:t>Connector</a:t>
            </a:r>
          </a:p>
        </p:txBody>
      </p:sp>
      <p:sp>
        <p:nvSpPr>
          <p:cNvPr id="18" name="Rounded Rectangle 17"/>
          <p:cNvSpPr/>
          <p:nvPr/>
        </p:nvSpPr>
        <p:spPr>
          <a:xfrm>
            <a:off x="5394960" y="2514600"/>
            <a:ext cx="2286000" cy="1645920"/>
          </a:xfrm>
          <a:prstGeom prst="roundRect">
            <a:avLst>
              <a:gd name="adj" fmla="val 6000"/>
            </a:avLst>
          </a:prstGeom>
          <a:solidFill>
            <a:srgbClr val="E8F1FD"/>
          </a:solidFill>
          <a:ln w="12700">
            <a:solidFill>
              <a:srgbClr val="1E6F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40680" y="2880360"/>
            <a:ext cx="2194560" cy="457200"/>
          </a:xfrm>
          <a:prstGeom prst="rect">
            <a:avLst/>
          </a:prstGeom>
          <a:noFill/>
        </p:spPr>
        <p:txBody>
          <a:bodyPr wrap="square">
            <a:spAutoFit/>
          </a:bodyPr>
          <a:lstStyle/>
          <a:p>
            <a:pPr algn="ctr">
              <a:spcAft>
                <a:spcPts val="400"/>
              </a:spcAft>
            </a:pPr>
            <a:r>
              <a:rPr sz="2000" b="1">
                <a:solidFill>
                  <a:srgbClr val="0B142A"/>
                </a:solidFill>
                <a:latin typeface="Segoe UI"/>
              </a:rPr>
              <a:t>FOCUS 1.2</a:t>
            </a:r>
          </a:p>
        </p:txBody>
      </p:sp>
      <p:sp>
        <p:nvSpPr>
          <p:cNvPr id="20" name="TextBox 19"/>
          <p:cNvSpPr txBox="1"/>
          <p:nvPr/>
        </p:nvSpPr>
        <p:spPr>
          <a:xfrm>
            <a:off x="5440680" y="3337560"/>
            <a:ext cx="2194560" cy="365760"/>
          </a:xfrm>
          <a:prstGeom prst="rect">
            <a:avLst/>
          </a:prstGeom>
          <a:noFill/>
        </p:spPr>
        <p:txBody>
          <a:bodyPr wrap="square">
            <a:spAutoFit/>
          </a:bodyPr>
          <a:lstStyle/>
          <a:p>
            <a:pPr algn="ctr">
              <a:spcAft>
                <a:spcPts val="400"/>
              </a:spcAft>
            </a:pPr>
            <a:r>
              <a:rPr sz="1100" b="0">
                <a:solidFill>
                  <a:srgbClr val="7A8599"/>
                </a:solidFill>
                <a:latin typeface="Segoe UI"/>
              </a:rPr>
              <a:t>one frame</a:t>
            </a:r>
          </a:p>
        </p:txBody>
      </p:sp>
      <p:sp>
        <p:nvSpPr>
          <p:cNvPr id="21" name="Rounded Rectangle 20"/>
          <p:cNvSpPr/>
          <p:nvPr/>
        </p:nvSpPr>
        <p:spPr>
          <a:xfrm>
            <a:off x="8138160" y="1874519"/>
            <a:ext cx="3383280" cy="438912"/>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75320" y="1947671"/>
            <a:ext cx="3200400" cy="320040"/>
          </a:xfrm>
          <a:prstGeom prst="rect">
            <a:avLst/>
          </a:prstGeom>
          <a:noFill/>
        </p:spPr>
        <p:txBody>
          <a:bodyPr wrap="square">
            <a:spAutoFit/>
          </a:bodyPr>
          <a:lstStyle/>
          <a:p>
            <a:pPr algn="l">
              <a:spcAft>
                <a:spcPts val="400"/>
              </a:spcAft>
            </a:pPr>
            <a:r>
              <a:rPr sz="1100" b="0">
                <a:solidFill>
                  <a:srgbClr val="445066"/>
                </a:solidFill>
                <a:latin typeface="Segoe UI"/>
              </a:rPr>
              <a:t>Executive KPIs</a:t>
            </a:r>
          </a:p>
        </p:txBody>
      </p:sp>
      <p:sp>
        <p:nvSpPr>
          <p:cNvPr id="23" name="Rounded Rectangle 22"/>
          <p:cNvSpPr/>
          <p:nvPr/>
        </p:nvSpPr>
        <p:spPr>
          <a:xfrm>
            <a:off x="8138160" y="2386583"/>
            <a:ext cx="3383280" cy="438912"/>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75320" y="2459735"/>
            <a:ext cx="3200400" cy="320040"/>
          </a:xfrm>
          <a:prstGeom prst="rect">
            <a:avLst/>
          </a:prstGeom>
          <a:noFill/>
        </p:spPr>
        <p:txBody>
          <a:bodyPr wrap="square">
            <a:spAutoFit/>
          </a:bodyPr>
          <a:lstStyle/>
          <a:p>
            <a:pPr algn="l">
              <a:spcAft>
                <a:spcPts val="400"/>
              </a:spcAft>
            </a:pPr>
            <a:r>
              <a:rPr sz="1100" b="0">
                <a:solidFill>
                  <a:srgbClr val="445066"/>
                </a:solidFill>
                <a:latin typeface="Segoe UI"/>
              </a:rPr>
              <a:t>Forecast &amp; budget</a:t>
            </a:r>
          </a:p>
        </p:txBody>
      </p:sp>
      <p:sp>
        <p:nvSpPr>
          <p:cNvPr id="25" name="Rounded Rectangle 24"/>
          <p:cNvSpPr/>
          <p:nvPr/>
        </p:nvSpPr>
        <p:spPr>
          <a:xfrm>
            <a:off x="8138160" y="2898647"/>
            <a:ext cx="3383280" cy="438912"/>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75320" y="2971799"/>
            <a:ext cx="3200400" cy="320040"/>
          </a:xfrm>
          <a:prstGeom prst="rect">
            <a:avLst/>
          </a:prstGeom>
          <a:noFill/>
        </p:spPr>
        <p:txBody>
          <a:bodyPr wrap="square">
            <a:spAutoFit/>
          </a:bodyPr>
          <a:lstStyle/>
          <a:p>
            <a:pPr algn="l">
              <a:spcAft>
                <a:spcPts val="400"/>
              </a:spcAft>
            </a:pPr>
            <a:r>
              <a:rPr sz="1100" b="0">
                <a:solidFill>
                  <a:srgbClr val="445066"/>
                </a:solidFill>
                <a:latin typeface="Segoe UI"/>
              </a:rPr>
              <a:t>Showback / chargeback</a:t>
            </a:r>
          </a:p>
        </p:txBody>
      </p:sp>
      <p:sp>
        <p:nvSpPr>
          <p:cNvPr id="27" name="Rounded Rectangle 26"/>
          <p:cNvSpPr/>
          <p:nvPr/>
        </p:nvSpPr>
        <p:spPr>
          <a:xfrm>
            <a:off x="8138160" y="3410711"/>
            <a:ext cx="3383280" cy="438912"/>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75320" y="3483863"/>
            <a:ext cx="3200400" cy="320040"/>
          </a:xfrm>
          <a:prstGeom prst="rect">
            <a:avLst/>
          </a:prstGeom>
          <a:noFill/>
        </p:spPr>
        <p:txBody>
          <a:bodyPr wrap="square">
            <a:spAutoFit/>
          </a:bodyPr>
          <a:lstStyle/>
          <a:p>
            <a:pPr algn="l">
              <a:spcAft>
                <a:spcPts val="400"/>
              </a:spcAft>
            </a:pPr>
            <a:r>
              <a:rPr sz="1100" b="0">
                <a:solidFill>
                  <a:srgbClr val="445066"/>
                </a:solidFill>
                <a:latin typeface="Segoe UI"/>
              </a:rPr>
              <a:t>Optimization levers</a:t>
            </a:r>
          </a:p>
        </p:txBody>
      </p:sp>
      <p:sp>
        <p:nvSpPr>
          <p:cNvPr id="29" name="Rounded Rectangle 28"/>
          <p:cNvSpPr/>
          <p:nvPr/>
        </p:nvSpPr>
        <p:spPr>
          <a:xfrm>
            <a:off x="8138160" y="3922775"/>
            <a:ext cx="3383280" cy="438912"/>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75320" y="3995927"/>
            <a:ext cx="3200400" cy="320040"/>
          </a:xfrm>
          <a:prstGeom prst="rect">
            <a:avLst/>
          </a:prstGeom>
          <a:noFill/>
        </p:spPr>
        <p:txBody>
          <a:bodyPr wrap="square">
            <a:spAutoFit/>
          </a:bodyPr>
          <a:lstStyle/>
          <a:p>
            <a:pPr algn="l">
              <a:spcAft>
                <a:spcPts val="400"/>
              </a:spcAft>
            </a:pPr>
            <a:r>
              <a:rPr sz="1100" b="0">
                <a:solidFill>
                  <a:srgbClr val="445066"/>
                </a:solidFill>
                <a:latin typeface="Segoe UI"/>
              </a:rPr>
              <a:t>Anomalies</a:t>
            </a:r>
          </a:p>
        </p:txBody>
      </p:sp>
      <p:sp>
        <p:nvSpPr>
          <p:cNvPr id="31" name="Rounded Rectangle 30"/>
          <p:cNvSpPr/>
          <p:nvPr/>
        </p:nvSpPr>
        <p:spPr>
          <a:xfrm>
            <a:off x="8138160" y="4434839"/>
            <a:ext cx="3383280" cy="438912"/>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75320" y="4507991"/>
            <a:ext cx="3200400" cy="320040"/>
          </a:xfrm>
          <a:prstGeom prst="rect">
            <a:avLst/>
          </a:prstGeom>
          <a:noFill/>
        </p:spPr>
        <p:txBody>
          <a:bodyPr wrap="square">
            <a:spAutoFit/>
          </a:bodyPr>
          <a:lstStyle/>
          <a:p>
            <a:pPr algn="l">
              <a:spcAft>
                <a:spcPts val="400"/>
              </a:spcAft>
            </a:pPr>
            <a:r>
              <a:rPr sz="1100" b="0">
                <a:solidFill>
                  <a:srgbClr val="445066"/>
                </a:solidFill>
                <a:latin typeface="Segoe UI"/>
              </a:rPr>
              <a:t>AI agent team</a:t>
            </a:r>
          </a:p>
        </p:txBody>
      </p:sp>
      <p:sp>
        <p:nvSpPr>
          <p:cNvPr id="33" name="TextBox 32"/>
          <p:cNvSpPr txBox="1"/>
          <p:nvPr/>
        </p:nvSpPr>
        <p:spPr>
          <a:xfrm>
            <a:off x="640080" y="5120640"/>
            <a:ext cx="10881360" cy="914400"/>
          </a:xfrm>
          <a:prstGeom prst="rect">
            <a:avLst/>
          </a:prstGeom>
          <a:noFill/>
        </p:spPr>
        <p:txBody>
          <a:bodyPr wrap="square">
            <a:spAutoFit/>
          </a:bodyPr>
          <a:lstStyle/>
          <a:p>
            <a:pPr algn="l">
              <a:spcAft>
                <a:spcPts val="400"/>
              </a:spcAft>
            </a:pPr>
            <a:r>
              <a:rPr sz="1200" b="0">
                <a:solidFill>
                  <a:srgbClr val="445066"/>
                </a:solidFill>
                <a:latin typeface="Segoe UI"/>
              </a:rPr>
              <a:t>No dashboard, KPI formula, optimization detector or agent tool has ever seen a vendor-specific field. Adopting a new FinOps platform is one Connector subclass; dropping one is deleting it. That is the whole architectural bet — and it is the same bet the FinOps Foundation made with FOCUS.</a:t>
            </a:r>
          </a:p>
        </p:txBody>
      </p:sp>
      <p:sp>
        <p:nvSpPr>
          <p:cNvPr id="34" name="TextBox 33"/>
          <p:cNvSpPr txBox="1"/>
          <p:nvPr/>
        </p:nvSpPr>
        <p:spPr>
          <a:xfrm>
            <a:off x="640080" y="6355080"/>
            <a:ext cx="8229600" cy="274320"/>
          </a:xfrm>
          <a:prstGeom prst="rect">
            <a:avLst/>
          </a:prstGeom>
          <a:noFill/>
        </p:spPr>
        <p:txBody>
          <a:bodyPr wrap="square">
            <a:spAutoFit/>
          </a:bodyPr>
          <a:lstStyle/>
          <a:p>
            <a:pPr algn="l">
              <a:spcAft>
                <a:spcPts val="400"/>
              </a:spcAft>
            </a:pPr>
          </a:p>
        </p:txBody>
      </p:sp>
      <p:sp>
        <p:nvSpPr>
          <p:cNvPr id="35" name="TextBox 34"/>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HIGH LEVEL DESIGN</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800" b="1">
                <a:solidFill>
                  <a:srgbClr val="0B142A"/>
                </a:solidFill>
                <a:latin typeface="Segoe UI"/>
              </a:rPr>
              <a:t>Every source normalises to one FOCUS 1.2 frame</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Sources · Ingest · Canonical · Analytics · Experience</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ld.png"/>
          <p:cNvPicPr>
            <a:picLocks noChangeAspect="1"/>
          </p:cNvPicPr>
          <p:nvPr/>
        </p:nvPicPr>
        <p:blipFill>
          <a:blip r:embed="rId2"/>
          <a:stretch>
            <a:fillRect/>
          </a:stretch>
        </p:blipFill>
        <p:spPr>
          <a:xfrm>
            <a:off x="3073089" y="1874519"/>
            <a:ext cx="6045517" cy="4160520"/>
          </a:xfrm>
          <a:prstGeom prst="rect">
            <a:avLst/>
          </a:prstGeom>
        </p:spPr>
      </p:pic>
      <p:sp>
        <p:nvSpPr>
          <p:cNvPr id="7" name="TextBox 6"/>
          <p:cNvSpPr txBox="1"/>
          <p:nvPr/>
        </p:nvSpPr>
        <p:spPr>
          <a:xfrm>
            <a:off x="640080" y="6144768"/>
            <a:ext cx="9509760" cy="274320"/>
          </a:xfrm>
          <a:prstGeom prst="rect">
            <a:avLst/>
          </a:prstGeom>
          <a:noFill/>
        </p:spPr>
        <p:txBody>
          <a:bodyPr wrap="square">
            <a:spAutoFit/>
          </a:bodyPr>
          <a:lstStyle/>
          <a:p>
            <a:pPr algn="l">
              <a:spcAft>
                <a:spcPts val="400"/>
              </a:spcAft>
            </a:pPr>
            <a:r>
              <a:rPr sz="900" b="0">
                <a:solidFill>
                  <a:srgbClr val="7A8599"/>
                </a:solidFill>
                <a:latin typeface="Segoe UI"/>
              </a:rPr>
              <a:t>Vector source: docs/diagrams/hld.svg</a:t>
            </a:r>
          </a:p>
        </p:txBody>
      </p:sp>
      <p:sp>
        <p:nvSpPr>
          <p:cNvPr id="8" name="TextBox 7"/>
          <p:cNvSpPr txBox="1"/>
          <p:nvPr/>
        </p:nvSpPr>
        <p:spPr>
          <a:xfrm>
            <a:off x="10058400" y="6144768"/>
            <a:ext cx="1554480" cy="274320"/>
          </a:xfrm>
          <a:prstGeom prst="rect">
            <a:avLst/>
          </a:prstGeom>
          <a:noFill/>
        </p:spPr>
        <p:txBody>
          <a:bodyPr wrap="square">
            <a:spAutoFit/>
          </a:bodyPr>
          <a:lstStyle/>
          <a:p>
            <a:pPr algn="r">
              <a:spcAft>
                <a:spcPts val="400"/>
              </a:spcAft>
            </a:pPr>
            <a:r>
              <a:rPr sz="800" b="0">
                <a:solidFill>
                  <a:srgbClr val="7A8599"/>
                </a:solidFill>
                <a:latin typeface="Segoe UI"/>
              </a:rPr>
              <a:t>docs/diagrams/hld.svg</a:t>
            </a:r>
          </a:p>
        </p:txBody>
      </p:sp>
      <p:sp>
        <p:nvSpPr>
          <p:cNvPr id="9" name="TextBox 8"/>
          <p:cNvSpPr txBox="1"/>
          <p:nvPr/>
        </p:nvSpPr>
        <p:spPr>
          <a:xfrm>
            <a:off x="640080" y="6355080"/>
            <a:ext cx="8229600" cy="274320"/>
          </a:xfrm>
          <a:prstGeom prst="rect">
            <a:avLst/>
          </a:prstGeom>
          <a:noFill/>
        </p:spPr>
        <p:txBody>
          <a:bodyPr wrap="square">
            <a:spAutoFit/>
          </a:bodyPr>
          <a:lstStyle/>
          <a:p>
            <a:pPr algn="l">
              <a:spcAft>
                <a:spcPts val="400"/>
              </a:spcAft>
            </a:pPr>
          </a:p>
        </p:txBody>
      </p:sp>
      <p:sp>
        <p:nvSpPr>
          <p:cNvPr id="10" name="TextBox 9"/>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ARCHITECTURE</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800" b="1">
                <a:solidFill>
                  <a:srgbClr val="0B142A"/>
                </a:solidFill>
                <a:latin typeface="Segoe UI"/>
              </a:rPr>
              <a:t>Two modes, one code path</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Nothing below the loader knows which mode is active</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65960"/>
            <a:ext cx="5349240" cy="329184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0080" y="1965960"/>
            <a:ext cx="5349240" cy="508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148840"/>
            <a:ext cx="4846320" cy="411480"/>
          </a:xfrm>
          <a:prstGeom prst="rect">
            <a:avLst/>
          </a:prstGeom>
          <a:noFill/>
        </p:spPr>
        <p:txBody>
          <a:bodyPr wrap="square">
            <a:spAutoFit/>
          </a:bodyPr>
          <a:lstStyle/>
          <a:p>
            <a:pPr algn="l">
              <a:spcAft>
                <a:spcPts val="400"/>
              </a:spcAft>
            </a:pPr>
            <a:r>
              <a:rPr sz="1800" b="1">
                <a:solidFill>
                  <a:srgbClr val="0B142A"/>
                </a:solidFill>
                <a:latin typeface="Segoe UI"/>
              </a:rPr>
              <a:t>Demo Mode</a:t>
            </a:r>
          </a:p>
        </p:txBody>
      </p:sp>
      <p:sp>
        <p:nvSpPr>
          <p:cNvPr id="9" name="TextBox 8"/>
          <p:cNvSpPr txBox="1"/>
          <p:nvPr/>
        </p:nvSpPr>
        <p:spPr>
          <a:xfrm>
            <a:off x="896112" y="2606040"/>
            <a:ext cx="4846320" cy="2377440"/>
          </a:xfrm>
          <a:prstGeom prst="rect">
            <a:avLst/>
          </a:prstGeom>
          <a:noFill/>
        </p:spPr>
        <p:txBody>
          <a:bodyPr wrap="square">
            <a:spAutoFit/>
          </a:bodyPr>
          <a:lstStyle/>
          <a:p>
            <a:pPr>
              <a:spcAft>
                <a:spcPts val="900"/>
              </a:spcAft>
            </a:pPr>
            <a:r>
              <a:rPr sz="1150">
                <a:solidFill>
                  <a:srgbClr val="445066"/>
                </a:solidFill>
                <a:latin typeface="Segoe UI"/>
              </a:rPr>
              <a:t>—  Deterministic synthetic estate, generated in-process</a:t>
            </a:r>
          </a:p>
          <a:p>
            <a:pPr>
              <a:spcAft>
                <a:spcPts val="900"/>
              </a:spcAft>
            </a:pPr>
            <a:r>
              <a:rPr sz="1150">
                <a:solidFill>
                  <a:srgbClr val="445066"/>
                </a:solidFill>
                <a:latin typeface="Segoe UI"/>
              </a:rPr>
              <a:t>—  24 months, 3 clouds, 11 applications</a:t>
            </a:r>
          </a:p>
          <a:p>
            <a:pPr>
              <a:spcAft>
                <a:spcPts val="900"/>
              </a:spcAft>
            </a:pPr>
            <a:r>
              <a:rPr sz="1150">
                <a:solidFill>
                  <a:srgbClr val="445066"/>
                </a:solidFill>
                <a:latin typeface="Segoe UI"/>
              </a:rPr>
              <a:t>—  54,870 FOCUS charge rows</a:t>
            </a:r>
          </a:p>
          <a:p>
            <a:pPr>
              <a:spcAft>
                <a:spcPts val="900"/>
              </a:spcAft>
            </a:pPr>
            <a:r>
              <a:rPr sz="1150">
                <a:solidFill>
                  <a:srgbClr val="445066"/>
                </a:solidFill>
                <a:latin typeface="Segoe UI"/>
              </a:rPr>
              <a:t>—  No credentials, no network calls, no cloud spend</a:t>
            </a:r>
          </a:p>
          <a:p>
            <a:pPr>
              <a:spcAft>
                <a:spcPts val="900"/>
              </a:spcAft>
            </a:pPr>
            <a:r>
              <a:rPr sz="1150">
                <a:solidFill>
                  <a:srgbClr val="445066"/>
                </a:solidFill>
                <a:latin typeface="Segoe UI"/>
              </a:rPr>
              <a:t>—  Used for evaluation, training and demos</a:t>
            </a:r>
          </a:p>
        </p:txBody>
      </p:sp>
      <p:sp>
        <p:nvSpPr>
          <p:cNvPr id="10" name="Rounded Rectangle 9"/>
          <p:cNvSpPr/>
          <p:nvPr/>
        </p:nvSpPr>
        <p:spPr>
          <a:xfrm>
            <a:off x="6309360" y="1965960"/>
            <a:ext cx="5349240" cy="329184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309360" y="1965960"/>
            <a:ext cx="5349240" cy="50800"/>
          </a:xfrm>
          <a:prstGeom prst="rect">
            <a:avLst/>
          </a:prstGeom>
          <a:solidFill>
            <a:srgbClr val="119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65392" y="2148840"/>
            <a:ext cx="4846320" cy="411480"/>
          </a:xfrm>
          <a:prstGeom prst="rect">
            <a:avLst/>
          </a:prstGeom>
          <a:noFill/>
        </p:spPr>
        <p:txBody>
          <a:bodyPr wrap="square">
            <a:spAutoFit/>
          </a:bodyPr>
          <a:lstStyle/>
          <a:p>
            <a:pPr algn="l">
              <a:spcAft>
                <a:spcPts val="400"/>
              </a:spcAft>
            </a:pPr>
            <a:r>
              <a:rPr sz="1800" b="1">
                <a:solidFill>
                  <a:srgbClr val="0B142A"/>
                </a:solidFill>
                <a:latin typeface="Segoe UI"/>
              </a:rPr>
              <a:t>Live Mode</a:t>
            </a:r>
          </a:p>
        </p:txBody>
      </p:sp>
      <p:sp>
        <p:nvSpPr>
          <p:cNvPr id="13" name="TextBox 12"/>
          <p:cNvSpPr txBox="1"/>
          <p:nvPr/>
        </p:nvSpPr>
        <p:spPr>
          <a:xfrm>
            <a:off x="6565392" y="2606040"/>
            <a:ext cx="4846320" cy="2377440"/>
          </a:xfrm>
          <a:prstGeom prst="rect">
            <a:avLst/>
          </a:prstGeom>
          <a:noFill/>
        </p:spPr>
        <p:txBody>
          <a:bodyPr wrap="square">
            <a:spAutoFit/>
          </a:bodyPr>
          <a:lstStyle/>
          <a:p>
            <a:pPr>
              <a:spcAft>
                <a:spcPts val="900"/>
              </a:spcAft>
            </a:pPr>
            <a:r>
              <a:rPr sz="1150">
                <a:solidFill>
                  <a:srgbClr val="445066"/>
                </a:solidFill>
                <a:latin typeface="Segoe UI"/>
              </a:rPr>
              <a:t>—  Real billing data through configured connectors</a:t>
            </a:r>
          </a:p>
          <a:p>
            <a:pPr>
              <a:spcAft>
                <a:spcPts val="900"/>
              </a:spcAft>
            </a:pPr>
            <a:r>
              <a:rPr sz="1150">
                <a:solidFill>
                  <a:srgbClr val="445066"/>
                </a:solidFill>
                <a:latin typeface="Segoe UI"/>
              </a:rPr>
              <a:t>—  Native AWS / Azure / GCP, or a procured tool</a:t>
            </a:r>
          </a:p>
          <a:p>
            <a:pPr>
              <a:spcAft>
                <a:spcPts val="900"/>
              </a:spcAft>
            </a:pPr>
            <a:r>
              <a:rPr sz="1150">
                <a:solidFill>
                  <a:srgbClr val="445066"/>
                </a:solidFill>
                <a:latin typeface="Segoe UI"/>
              </a:rPr>
              <a:t>—  Multiple payers, tenants and billing accounts</a:t>
            </a:r>
          </a:p>
          <a:p>
            <a:pPr>
              <a:spcAft>
                <a:spcPts val="900"/>
              </a:spcAft>
            </a:pPr>
            <a:r>
              <a:rPr sz="1150">
                <a:solidFill>
                  <a:srgbClr val="445066"/>
                </a:solidFill>
                <a:latin typeface="Segoe UI"/>
              </a:rPr>
              <a:t>—  A half-wired estate still renders the wired parts</a:t>
            </a:r>
          </a:p>
          <a:p>
            <a:pPr>
              <a:spcAft>
                <a:spcPts val="900"/>
              </a:spcAft>
            </a:pPr>
            <a:r>
              <a:rPr sz="1150">
                <a:solidFill>
                  <a:srgbClr val="445066"/>
                </a:solidFill>
                <a:latin typeface="Segoe UI"/>
              </a:rPr>
              <a:t>—  Cached: Cost Explorer bills ~$0.01 per request</a:t>
            </a:r>
          </a:p>
        </p:txBody>
      </p:sp>
      <p:sp>
        <p:nvSpPr>
          <p:cNvPr id="14" name="TextBox 13"/>
          <p:cNvSpPr txBox="1"/>
          <p:nvPr/>
        </p:nvSpPr>
        <p:spPr>
          <a:xfrm>
            <a:off x="640080" y="5440680"/>
            <a:ext cx="10881360" cy="640080"/>
          </a:xfrm>
          <a:prstGeom prst="rect">
            <a:avLst/>
          </a:prstGeom>
          <a:noFill/>
        </p:spPr>
        <p:txBody>
          <a:bodyPr wrap="square">
            <a:spAutoFit/>
          </a:bodyPr>
          <a:lstStyle/>
          <a:p>
            <a:pPr algn="l">
              <a:spcAft>
                <a:spcPts val="400"/>
              </a:spcAft>
            </a:pPr>
            <a:r>
              <a:rPr sz="1150" b="0">
                <a:solidFill>
                  <a:srgbClr val="7A8599"/>
                </a:solidFill>
                <a:latin typeface="Segoe UI"/>
              </a:rPr>
              <a:t>Demo Mode is not a mock. It uses the same Connector interface and produces a frame that passes FOCUS validation, containing real commitment waste, untagged spend, idle resources, a migration step-change and two injected anomalies.</a:t>
            </a:r>
          </a:p>
        </p:txBody>
      </p:sp>
      <p:sp>
        <p:nvSpPr>
          <p:cNvPr id="15" name="TextBox 14"/>
          <p:cNvSpPr txBox="1"/>
          <p:nvPr/>
        </p:nvSpPr>
        <p:spPr>
          <a:xfrm>
            <a:off x="640080" y="6355080"/>
            <a:ext cx="8229600" cy="274320"/>
          </a:xfrm>
          <a:prstGeom prst="rect">
            <a:avLst/>
          </a:prstGeom>
          <a:noFill/>
        </p:spPr>
        <p:txBody>
          <a:bodyPr wrap="square">
            <a:spAutoFit/>
          </a:bodyPr>
          <a:lstStyle/>
          <a:p>
            <a:pPr algn="l">
              <a:spcAft>
                <a:spcPts val="400"/>
              </a:spcAft>
            </a:pPr>
          </a:p>
        </p:txBody>
      </p:sp>
      <p:sp>
        <p:nvSpPr>
          <p:cNvPr id="16" name="TextBox 15"/>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END USER VIEW</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800" b="1">
                <a:solidFill>
                  <a:srgbClr val="0B142A"/>
                </a:solidFill>
                <a:latin typeface="Segoe UI"/>
              </a:rPr>
              <a:t>Who asks what, and where the answer lives</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The journey, the six FinOps personas, and the dashboards each one lands on</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nd_user_view.png"/>
          <p:cNvPicPr>
            <a:picLocks noChangeAspect="1"/>
          </p:cNvPicPr>
          <p:nvPr/>
        </p:nvPicPr>
        <p:blipFill>
          <a:blip r:embed="rId2"/>
          <a:stretch>
            <a:fillRect/>
          </a:stretch>
        </p:blipFill>
        <p:spPr>
          <a:xfrm>
            <a:off x="2777252" y="1874519"/>
            <a:ext cx="6637191" cy="4160520"/>
          </a:xfrm>
          <a:prstGeom prst="rect">
            <a:avLst/>
          </a:prstGeom>
        </p:spPr>
      </p:pic>
      <p:sp>
        <p:nvSpPr>
          <p:cNvPr id="7" name="TextBox 6"/>
          <p:cNvSpPr txBox="1"/>
          <p:nvPr/>
        </p:nvSpPr>
        <p:spPr>
          <a:xfrm>
            <a:off x="640080" y="6144768"/>
            <a:ext cx="9509760" cy="274320"/>
          </a:xfrm>
          <a:prstGeom prst="rect">
            <a:avLst/>
          </a:prstGeom>
          <a:noFill/>
        </p:spPr>
        <p:txBody>
          <a:bodyPr wrap="square">
            <a:spAutoFit/>
          </a:bodyPr>
          <a:lstStyle/>
          <a:p>
            <a:pPr algn="l">
              <a:spcAft>
                <a:spcPts val="400"/>
              </a:spcAft>
            </a:pPr>
            <a:r>
              <a:rPr sz="900" b="0">
                <a:solidFill>
                  <a:srgbClr val="7A8599"/>
                </a:solidFill>
                <a:latin typeface="Segoe UI"/>
              </a:rPr>
              <a:t>Vector source: docs/diagrams/end_user_view.svg</a:t>
            </a:r>
          </a:p>
        </p:txBody>
      </p:sp>
      <p:sp>
        <p:nvSpPr>
          <p:cNvPr id="8" name="TextBox 7"/>
          <p:cNvSpPr txBox="1"/>
          <p:nvPr/>
        </p:nvSpPr>
        <p:spPr>
          <a:xfrm>
            <a:off x="10058400" y="6144768"/>
            <a:ext cx="1554480" cy="274320"/>
          </a:xfrm>
          <a:prstGeom prst="rect">
            <a:avLst/>
          </a:prstGeom>
          <a:noFill/>
        </p:spPr>
        <p:txBody>
          <a:bodyPr wrap="square">
            <a:spAutoFit/>
          </a:bodyPr>
          <a:lstStyle/>
          <a:p>
            <a:pPr algn="r">
              <a:spcAft>
                <a:spcPts val="400"/>
              </a:spcAft>
            </a:pPr>
            <a:r>
              <a:rPr sz="800" b="0">
                <a:solidFill>
                  <a:srgbClr val="7A8599"/>
                </a:solidFill>
                <a:latin typeface="Segoe UI"/>
              </a:rPr>
              <a:t>docs/diagrams/end_user_view.svg</a:t>
            </a:r>
          </a:p>
        </p:txBody>
      </p:sp>
      <p:sp>
        <p:nvSpPr>
          <p:cNvPr id="9" name="TextBox 8"/>
          <p:cNvSpPr txBox="1"/>
          <p:nvPr/>
        </p:nvSpPr>
        <p:spPr>
          <a:xfrm>
            <a:off x="640080" y="6355080"/>
            <a:ext cx="8229600" cy="274320"/>
          </a:xfrm>
          <a:prstGeom prst="rect">
            <a:avLst/>
          </a:prstGeom>
          <a:noFill/>
        </p:spPr>
        <p:txBody>
          <a:bodyPr wrap="square">
            <a:spAutoFit/>
          </a:bodyPr>
          <a:lstStyle/>
          <a:p>
            <a:pPr algn="l">
              <a:spcAft>
                <a:spcPts val="400"/>
              </a:spcAft>
            </a:pPr>
          </a:p>
        </p:txBody>
      </p:sp>
      <p:sp>
        <p:nvSpPr>
          <p:cNvPr id="10" name="TextBox 9"/>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LOW LEVEL DESIGN</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800" b="1">
                <a:solidFill>
                  <a:srgbClr val="0B142A"/>
                </a:solidFill>
                <a:latin typeface="Segoe UI"/>
              </a:rPr>
              <a:t>One request through the system</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Module boundaries, the secret boundary, and where results are cached</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ld.png"/>
          <p:cNvPicPr>
            <a:picLocks noChangeAspect="1"/>
          </p:cNvPicPr>
          <p:nvPr/>
        </p:nvPicPr>
        <p:blipFill>
          <a:blip r:embed="rId2"/>
          <a:stretch>
            <a:fillRect/>
          </a:stretch>
        </p:blipFill>
        <p:spPr>
          <a:xfrm>
            <a:off x="2777252" y="1874519"/>
            <a:ext cx="6637191" cy="4160520"/>
          </a:xfrm>
          <a:prstGeom prst="rect">
            <a:avLst/>
          </a:prstGeom>
        </p:spPr>
      </p:pic>
      <p:sp>
        <p:nvSpPr>
          <p:cNvPr id="7" name="TextBox 6"/>
          <p:cNvSpPr txBox="1"/>
          <p:nvPr/>
        </p:nvSpPr>
        <p:spPr>
          <a:xfrm>
            <a:off x="640080" y="6144768"/>
            <a:ext cx="9509760" cy="274320"/>
          </a:xfrm>
          <a:prstGeom prst="rect">
            <a:avLst/>
          </a:prstGeom>
          <a:noFill/>
        </p:spPr>
        <p:txBody>
          <a:bodyPr wrap="square">
            <a:spAutoFit/>
          </a:bodyPr>
          <a:lstStyle/>
          <a:p>
            <a:pPr algn="l">
              <a:spcAft>
                <a:spcPts val="400"/>
              </a:spcAft>
            </a:pPr>
            <a:r>
              <a:rPr sz="900" b="0">
                <a:solidFill>
                  <a:srgbClr val="7A8599"/>
                </a:solidFill>
                <a:latin typeface="Segoe UI"/>
              </a:rPr>
              <a:t>Vector source: docs/diagrams/lld.svg</a:t>
            </a:r>
          </a:p>
        </p:txBody>
      </p:sp>
      <p:sp>
        <p:nvSpPr>
          <p:cNvPr id="8" name="TextBox 7"/>
          <p:cNvSpPr txBox="1"/>
          <p:nvPr/>
        </p:nvSpPr>
        <p:spPr>
          <a:xfrm>
            <a:off x="10058400" y="6144768"/>
            <a:ext cx="1554480" cy="274320"/>
          </a:xfrm>
          <a:prstGeom prst="rect">
            <a:avLst/>
          </a:prstGeom>
          <a:noFill/>
        </p:spPr>
        <p:txBody>
          <a:bodyPr wrap="square">
            <a:spAutoFit/>
          </a:bodyPr>
          <a:lstStyle/>
          <a:p>
            <a:pPr algn="r">
              <a:spcAft>
                <a:spcPts val="400"/>
              </a:spcAft>
            </a:pPr>
            <a:r>
              <a:rPr sz="800" b="0">
                <a:solidFill>
                  <a:srgbClr val="7A8599"/>
                </a:solidFill>
                <a:latin typeface="Segoe UI"/>
              </a:rPr>
              <a:t>docs/diagrams/lld.svg</a:t>
            </a:r>
          </a:p>
        </p:txBody>
      </p:sp>
      <p:sp>
        <p:nvSpPr>
          <p:cNvPr id="9" name="TextBox 8"/>
          <p:cNvSpPr txBox="1"/>
          <p:nvPr/>
        </p:nvSpPr>
        <p:spPr>
          <a:xfrm>
            <a:off x="640080" y="6355080"/>
            <a:ext cx="8229600" cy="274320"/>
          </a:xfrm>
          <a:prstGeom prst="rect">
            <a:avLst/>
          </a:prstGeom>
          <a:noFill/>
        </p:spPr>
        <p:txBody>
          <a:bodyPr wrap="square">
            <a:spAutoFit/>
          </a:bodyPr>
          <a:lstStyle/>
          <a:p>
            <a:pPr algn="l">
              <a:spcAft>
                <a:spcPts val="400"/>
              </a:spcAft>
            </a:pPr>
          </a:p>
        </p:txBody>
      </p:sp>
      <p:sp>
        <p:nvSpPr>
          <p:cNvPr id="10" name="TextBox 9"/>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EXECUTIVE VIEW</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800" b="1">
                <a:solidFill>
                  <a:srgbClr val="0B142A"/>
                </a:solidFill>
                <a:latin typeface="Segoe UI"/>
              </a:rPr>
              <a:t>What a VP sees first</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Amortised spend across AWS, Azure and GCP · 24 months of history</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65960"/>
            <a:ext cx="3502152" cy="128016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0080" y="1965960"/>
            <a:ext cx="44450" cy="128016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57400"/>
            <a:ext cx="3227832" cy="256032"/>
          </a:xfrm>
          <a:prstGeom prst="rect">
            <a:avLst/>
          </a:prstGeom>
          <a:noFill/>
        </p:spPr>
        <p:txBody>
          <a:bodyPr wrap="square">
            <a:spAutoFit/>
          </a:bodyPr>
          <a:lstStyle/>
          <a:p>
            <a:pPr algn="l">
              <a:spcAft>
                <a:spcPts val="400"/>
              </a:spcAft>
            </a:pPr>
            <a:r>
              <a:rPr sz="850" b="1">
                <a:solidFill>
                  <a:srgbClr val="7A8599"/>
                </a:solidFill>
                <a:latin typeface="Segoe UI"/>
              </a:rPr>
              <a:t>TOTAL AMORTISED SPEND</a:t>
            </a:r>
          </a:p>
        </p:txBody>
      </p:sp>
      <p:sp>
        <p:nvSpPr>
          <p:cNvPr id="9" name="TextBox 8"/>
          <p:cNvSpPr txBox="1"/>
          <p:nvPr/>
        </p:nvSpPr>
        <p:spPr>
          <a:xfrm>
            <a:off x="804672" y="2295144"/>
            <a:ext cx="3227832" cy="457200"/>
          </a:xfrm>
          <a:prstGeom prst="rect">
            <a:avLst/>
          </a:prstGeom>
          <a:noFill/>
        </p:spPr>
        <p:txBody>
          <a:bodyPr wrap="square">
            <a:spAutoFit/>
          </a:bodyPr>
          <a:lstStyle/>
          <a:p>
            <a:pPr algn="l">
              <a:spcAft>
                <a:spcPts val="400"/>
              </a:spcAft>
            </a:pPr>
            <a:r>
              <a:rPr sz="2200" b="1">
                <a:solidFill>
                  <a:srgbClr val="0B142A"/>
                </a:solidFill>
                <a:latin typeface="Segoe UI"/>
              </a:rPr>
              <a:t>$30.28M</a:t>
            </a:r>
          </a:p>
        </p:txBody>
      </p:sp>
      <p:sp>
        <p:nvSpPr>
          <p:cNvPr id="10" name="TextBox 9"/>
          <p:cNvSpPr txBox="1"/>
          <p:nvPr/>
        </p:nvSpPr>
        <p:spPr>
          <a:xfrm>
            <a:off x="804672" y="2788920"/>
            <a:ext cx="3227832" cy="365760"/>
          </a:xfrm>
          <a:prstGeom prst="rect">
            <a:avLst/>
          </a:prstGeom>
          <a:noFill/>
        </p:spPr>
        <p:txBody>
          <a:bodyPr wrap="square">
            <a:spAutoFit/>
          </a:bodyPr>
          <a:lstStyle/>
          <a:p>
            <a:pPr algn="l">
              <a:spcAft>
                <a:spcPts val="400"/>
              </a:spcAft>
            </a:pPr>
            <a:r>
              <a:rPr sz="900" b="0">
                <a:solidFill>
                  <a:srgbClr val="7A8599"/>
                </a:solidFill>
                <a:latin typeface="Segoe UI"/>
              </a:rPr>
              <a:t>Run-rate $15.14M/yr</a:t>
            </a:r>
          </a:p>
        </p:txBody>
      </p:sp>
      <p:sp>
        <p:nvSpPr>
          <p:cNvPr id="11" name="Rounded Rectangle 10"/>
          <p:cNvSpPr/>
          <p:nvPr/>
        </p:nvSpPr>
        <p:spPr>
          <a:xfrm>
            <a:off x="4315967" y="1965960"/>
            <a:ext cx="3502152" cy="128016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15967" y="1965960"/>
            <a:ext cx="44450" cy="1280160"/>
          </a:xfrm>
          <a:prstGeom prst="rect">
            <a:avLst/>
          </a:prstGeom>
          <a:solidFill>
            <a:srgbClr val="5B4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59" y="2057400"/>
            <a:ext cx="3227832" cy="256032"/>
          </a:xfrm>
          <a:prstGeom prst="rect">
            <a:avLst/>
          </a:prstGeom>
          <a:noFill/>
        </p:spPr>
        <p:txBody>
          <a:bodyPr wrap="square">
            <a:spAutoFit/>
          </a:bodyPr>
          <a:lstStyle/>
          <a:p>
            <a:pPr algn="l">
              <a:spcAft>
                <a:spcPts val="400"/>
              </a:spcAft>
            </a:pPr>
            <a:r>
              <a:rPr sz="850" b="1">
                <a:solidFill>
                  <a:srgbClr val="7A8599"/>
                </a:solidFill>
                <a:latin typeface="Segoe UI"/>
              </a:rPr>
              <a:t>EFFECTIVE SAVINGS RATE</a:t>
            </a:r>
          </a:p>
        </p:txBody>
      </p:sp>
      <p:sp>
        <p:nvSpPr>
          <p:cNvPr id="14" name="TextBox 13"/>
          <p:cNvSpPr txBox="1"/>
          <p:nvPr/>
        </p:nvSpPr>
        <p:spPr>
          <a:xfrm>
            <a:off x="4480559" y="2295144"/>
            <a:ext cx="3227832" cy="457200"/>
          </a:xfrm>
          <a:prstGeom prst="rect">
            <a:avLst/>
          </a:prstGeom>
          <a:noFill/>
        </p:spPr>
        <p:txBody>
          <a:bodyPr wrap="square">
            <a:spAutoFit/>
          </a:bodyPr>
          <a:lstStyle/>
          <a:p>
            <a:pPr algn="l">
              <a:spcAft>
                <a:spcPts val="400"/>
              </a:spcAft>
            </a:pPr>
            <a:r>
              <a:rPr sz="2200" b="1">
                <a:solidFill>
                  <a:srgbClr val="0B142A"/>
                </a:solidFill>
                <a:latin typeface="Segoe UI"/>
              </a:rPr>
              <a:t>21.6%</a:t>
            </a:r>
          </a:p>
        </p:txBody>
      </p:sp>
      <p:sp>
        <p:nvSpPr>
          <p:cNvPr id="15" name="TextBox 14"/>
          <p:cNvSpPr txBox="1"/>
          <p:nvPr/>
        </p:nvSpPr>
        <p:spPr>
          <a:xfrm>
            <a:off x="4480559" y="2788920"/>
            <a:ext cx="3227832" cy="365760"/>
          </a:xfrm>
          <a:prstGeom prst="rect">
            <a:avLst/>
          </a:prstGeom>
          <a:noFill/>
        </p:spPr>
        <p:txBody>
          <a:bodyPr wrap="square">
            <a:spAutoFit/>
          </a:bodyPr>
          <a:lstStyle/>
          <a:p>
            <a:pPr algn="l">
              <a:spcAft>
                <a:spcPts val="400"/>
              </a:spcAft>
            </a:pPr>
            <a:r>
              <a:rPr sz="900" b="0">
                <a:solidFill>
                  <a:srgbClr val="7A8599"/>
                </a:solidFill>
                <a:latin typeface="Segoe UI"/>
              </a:rPr>
              <a:t>vs on-demand equivalent</a:t>
            </a:r>
          </a:p>
        </p:txBody>
      </p:sp>
      <p:sp>
        <p:nvSpPr>
          <p:cNvPr id="16" name="Rounded Rectangle 15"/>
          <p:cNvSpPr/>
          <p:nvPr/>
        </p:nvSpPr>
        <p:spPr>
          <a:xfrm>
            <a:off x="7991854" y="1965960"/>
            <a:ext cx="3502152" cy="128016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991854" y="1965960"/>
            <a:ext cx="44450" cy="1280160"/>
          </a:xfrm>
          <a:prstGeom prst="rect">
            <a:avLst/>
          </a:prstGeom>
          <a:solidFill>
            <a:srgbClr val="119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56446" y="2057400"/>
            <a:ext cx="3227832" cy="256032"/>
          </a:xfrm>
          <a:prstGeom prst="rect">
            <a:avLst/>
          </a:prstGeom>
          <a:noFill/>
        </p:spPr>
        <p:txBody>
          <a:bodyPr wrap="square">
            <a:spAutoFit/>
          </a:bodyPr>
          <a:lstStyle/>
          <a:p>
            <a:pPr algn="l">
              <a:spcAft>
                <a:spcPts val="400"/>
              </a:spcAft>
            </a:pPr>
            <a:r>
              <a:rPr sz="850" b="1">
                <a:solidFill>
                  <a:srgbClr val="7A8599"/>
                </a:solidFill>
                <a:latin typeface="Segoe UI"/>
              </a:rPr>
              <a:t>COMMITMENT COVERAGE</a:t>
            </a:r>
          </a:p>
        </p:txBody>
      </p:sp>
      <p:sp>
        <p:nvSpPr>
          <p:cNvPr id="19" name="TextBox 18"/>
          <p:cNvSpPr txBox="1"/>
          <p:nvPr/>
        </p:nvSpPr>
        <p:spPr>
          <a:xfrm>
            <a:off x="8156446" y="2295144"/>
            <a:ext cx="3227832" cy="457200"/>
          </a:xfrm>
          <a:prstGeom prst="rect">
            <a:avLst/>
          </a:prstGeom>
          <a:noFill/>
        </p:spPr>
        <p:txBody>
          <a:bodyPr wrap="square">
            <a:spAutoFit/>
          </a:bodyPr>
          <a:lstStyle/>
          <a:p>
            <a:pPr algn="l">
              <a:spcAft>
                <a:spcPts val="400"/>
              </a:spcAft>
            </a:pPr>
            <a:r>
              <a:rPr sz="2200" b="1">
                <a:solidFill>
                  <a:srgbClr val="0B142A"/>
                </a:solidFill>
                <a:latin typeface="Segoe UI"/>
              </a:rPr>
              <a:t>44.1%</a:t>
            </a:r>
          </a:p>
        </p:txBody>
      </p:sp>
      <p:sp>
        <p:nvSpPr>
          <p:cNvPr id="20" name="TextBox 19"/>
          <p:cNvSpPr txBox="1"/>
          <p:nvPr/>
        </p:nvSpPr>
        <p:spPr>
          <a:xfrm>
            <a:off x="8156446" y="2788920"/>
            <a:ext cx="3227832" cy="365760"/>
          </a:xfrm>
          <a:prstGeom prst="rect">
            <a:avLst/>
          </a:prstGeom>
          <a:noFill/>
        </p:spPr>
        <p:txBody>
          <a:bodyPr wrap="square">
            <a:spAutoFit/>
          </a:bodyPr>
          <a:lstStyle/>
          <a:p>
            <a:pPr algn="l">
              <a:spcAft>
                <a:spcPts val="400"/>
              </a:spcAft>
            </a:pPr>
            <a:r>
              <a:rPr sz="900" b="0">
                <a:solidFill>
                  <a:srgbClr val="7A8599"/>
                </a:solidFill>
                <a:latin typeface="Segoe UI"/>
              </a:rPr>
              <a:t>of eligible spend</a:t>
            </a:r>
          </a:p>
        </p:txBody>
      </p:sp>
      <p:sp>
        <p:nvSpPr>
          <p:cNvPr id="21" name="Rounded Rectangle 20"/>
          <p:cNvSpPr/>
          <p:nvPr/>
        </p:nvSpPr>
        <p:spPr>
          <a:xfrm>
            <a:off x="640080" y="3429000"/>
            <a:ext cx="3502152" cy="128016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40080" y="3429000"/>
            <a:ext cx="44450" cy="1280160"/>
          </a:xfrm>
          <a:prstGeom prst="rect">
            <a:avLst/>
          </a:prstGeom>
          <a:solidFill>
            <a:srgbClr val="0C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3520440"/>
            <a:ext cx="3227832" cy="256032"/>
          </a:xfrm>
          <a:prstGeom prst="rect">
            <a:avLst/>
          </a:prstGeom>
          <a:noFill/>
        </p:spPr>
        <p:txBody>
          <a:bodyPr wrap="square">
            <a:spAutoFit/>
          </a:bodyPr>
          <a:lstStyle/>
          <a:p>
            <a:pPr algn="l">
              <a:spcAft>
                <a:spcPts val="400"/>
              </a:spcAft>
            </a:pPr>
            <a:r>
              <a:rPr sz="850" b="1">
                <a:solidFill>
                  <a:srgbClr val="7A8599"/>
                </a:solidFill>
                <a:latin typeface="Segoe UI"/>
              </a:rPr>
              <a:t>COMMITMENT UTILISATION</a:t>
            </a:r>
          </a:p>
        </p:txBody>
      </p:sp>
      <p:sp>
        <p:nvSpPr>
          <p:cNvPr id="24" name="TextBox 23"/>
          <p:cNvSpPr txBox="1"/>
          <p:nvPr/>
        </p:nvSpPr>
        <p:spPr>
          <a:xfrm>
            <a:off x="804672" y="3758184"/>
            <a:ext cx="3227832" cy="457200"/>
          </a:xfrm>
          <a:prstGeom prst="rect">
            <a:avLst/>
          </a:prstGeom>
          <a:noFill/>
        </p:spPr>
        <p:txBody>
          <a:bodyPr wrap="square">
            <a:spAutoFit/>
          </a:bodyPr>
          <a:lstStyle/>
          <a:p>
            <a:pPr algn="l">
              <a:spcAft>
                <a:spcPts val="400"/>
              </a:spcAft>
            </a:pPr>
            <a:r>
              <a:rPr sz="2200" b="1">
                <a:solidFill>
                  <a:srgbClr val="0B142A"/>
                </a:solidFill>
                <a:latin typeface="Segoe UI"/>
              </a:rPr>
              <a:t>95.6%</a:t>
            </a:r>
          </a:p>
        </p:txBody>
      </p:sp>
      <p:sp>
        <p:nvSpPr>
          <p:cNvPr id="25" name="TextBox 24"/>
          <p:cNvSpPr txBox="1"/>
          <p:nvPr/>
        </p:nvSpPr>
        <p:spPr>
          <a:xfrm>
            <a:off x="804672" y="4251960"/>
            <a:ext cx="3227832" cy="365760"/>
          </a:xfrm>
          <a:prstGeom prst="rect">
            <a:avLst/>
          </a:prstGeom>
          <a:noFill/>
        </p:spPr>
        <p:txBody>
          <a:bodyPr wrap="square">
            <a:spAutoFit/>
          </a:bodyPr>
          <a:lstStyle/>
          <a:p>
            <a:pPr algn="l">
              <a:spcAft>
                <a:spcPts val="400"/>
              </a:spcAft>
            </a:pPr>
            <a:r>
              <a:rPr sz="900" b="0">
                <a:solidFill>
                  <a:srgbClr val="7A8599"/>
                </a:solidFill>
                <a:latin typeface="Segoe UI"/>
              </a:rPr>
              <a:t>$327K unused</a:t>
            </a:r>
          </a:p>
        </p:txBody>
      </p:sp>
      <p:sp>
        <p:nvSpPr>
          <p:cNvPr id="26" name="Rounded Rectangle 25"/>
          <p:cNvSpPr/>
          <p:nvPr/>
        </p:nvSpPr>
        <p:spPr>
          <a:xfrm>
            <a:off x="4315967" y="3429000"/>
            <a:ext cx="3502152" cy="128016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315967" y="3429000"/>
            <a:ext cx="44450" cy="1280160"/>
          </a:xfrm>
          <a:prstGeom prst="rect">
            <a:avLst/>
          </a:prstGeom>
          <a:solidFill>
            <a:srgbClr val="C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59" y="3520440"/>
            <a:ext cx="3227832" cy="256032"/>
          </a:xfrm>
          <a:prstGeom prst="rect">
            <a:avLst/>
          </a:prstGeom>
          <a:noFill/>
        </p:spPr>
        <p:txBody>
          <a:bodyPr wrap="square">
            <a:spAutoFit/>
          </a:bodyPr>
          <a:lstStyle/>
          <a:p>
            <a:pPr algn="l">
              <a:spcAft>
                <a:spcPts val="400"/>
              </a:spcAft>
            </a:pPr>
            <a:r>
              <a:rPr sz="850" b="1">
                <a:solidFill>
                  <a:srgbClr val="7A8599"/>
                </a:solidFill>
                <a:latin typeface="Segoe UI"/>
              </a:rPr>
              <a:t>COST OF WASTE</a:t>
            </a:r>
          </a:p>
        </p:txBody>
      </p:sp>
      <p:sp>
        <p:nvSpPr>
          <p:cNvPr id="29" name="TextBox 28"/>
          <p:cNvSpPr txBox="1"/>
          <p:nvPr/>
        </p:nvSpPr>
        <p:spPr>
          <a:xfrm>
            <a:off x="4480559" y="3758184"/>
            <a:ext cx="3227832" cy="457200"/>
          </a:xfrm>
          <a:prstGeom prst="rect">
            <a:avLst/>
          </a:prstGeom>
          <a:noFill/>
        </p:spPr>
        <p:txBody>
          <a:bodyPr wrap="square">
            <a:spAutoFit/>
          </a:bodyPr>
          <a:lstStyle/>
          <a:p>
            <a:pPr algn="l">
              <a:spcAft>
                <a:spcPts val="400"/>
              </a:spcAft>
            </a:pPr>
            <a:r>
              <a:rPr sz="2200" b="1">
                <a:solidFill>
                  <a:srgbClr val="0B142A"/>
                </a:solidFill>
                <a:latin typeface="Segoe UI"/>
              </a:rPr>
              <a:t>$2.26M</a:t>
            </a:r>
          </a:p>
        </p:txBody>
      </p:sp>
      <p:sp>
        <p:nvSpPr>
          <p:cNvPr id="30" name="TextBox 29"/>
          <p:cNvSpPr txBox="1"/>
          <p:nvPr/>
        </p:nvSpPr>
        <p:spPr>
          <a:xfrm>
            <a:off x="4480559" y="4251960"/>
            <a:ext cx="3227832" cy="365760"/>
          </a:xfrm>
          <a:prstGeom prst="rect">
            <a:avLst/>
          </a:prstGeom>
          <a:noFill/>
        </p:spPr>
        <p:txBody>
          <a:bodyPr wrap="square">
            <a:spAutoFit/>
          </a:bodyPr>
          <a:lstStyle/>
          <a:p>
            <a:pPr algn="l">
              <a:spcAft>
                <a:spcPts val="400"/>
              </a:spcAft>
            </a:pPr>
            <a:r>
              <a:rPr sz="900" b="0">
                <a:solidFill>
                  <a:srgbClr val="7A8599"/>
                </a:solidFill>
                <a:latin typeface="Segoe UI"/>
              </a:rPr>
              <a:t>7.5% of spend</a:t>
            </a:r>
          </a:p>
        </p:txBody>
      </p:sp>
      <p:sp>
        <p:nvSpPr>
          <p:cNvPr id="31" name="Rounded Rectangle 30"/>
          <p:cNvSpPr/>
          <p:nvPr/>
        </p:nvSpPr>
        <p:spPr>
          <a:xfrm>
            <a:off x="7991854" y="3429000"/>
            <a:ext cx="3502152" cy="128016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991854" y="3429000"/>
            <a:ext cx="44450" cy="1280160"/>
          </a:xfrm>
          <a:prstGeom prst="rect">
            <a:avLst/>
          </a:prstGeom>
          <a:solidFill>
            <a:srgbClr val="C2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56446" y="3520440"/>
            <a:ext cx="3227832" cy="256032"/>
          </a:xfrm>
          <a:prstGeom prst="rect">
            <a:avLst/>
          </a:prstGeom>
          <a:noFill/>
        </p:spPr>
        <p:txBody>
          <a:bodyPr wrap="square">
            <a:spAutoFit/>
          </a:bodyPr>
          <a:lstStyle/>
          <a:p>
            <a:pPr algn="l">
              <a:spcAft>
                <a:spcPts val="400"/>
              </a:spcAft>
            </a:pPr>
            <a:r>
              <a:rPr sz="850" b="1">
                <a:solidFill>
                  <a:srgbClr val="7A8599"/>
                </a:solidFill>
                <a:latin typeface="Segoe UI"/>
              </a:rPr>
              <a:t>ALLOCATION COVERAGE</a:t>
            </a:r>
          </a:p>
        </p:txBody>
      </p:sp>
      <p:sp>
        <p:nvSpPr>
          <p:cNvPr id="34" name="TextBox 33"/>
          <p:cNvSpPr txBox="1"/>
          <p:nvPr/>
        </p:nvSpPr>
        <p:spPr>
          <a:xfrm>
            <a:off x="8156446" y="3758184"/>
            <a:ext cx="3227832" cy="457200"/>
          </a:xfrm>
          <a:prstGeom prst="rect">
            <a:avLst/>
          </a:prstGeom>
          <a:noFill/>
        </p:spPr>
        <p:txBody>
          <a:bodyPr wrap="square">
            <a:spAutoFit/>
          </a:bodyPr>
          <a:lstStyle/>
          <a:p>
            <a:pPr algn="l">
              <a:spcAft>
                <a:spcPts val="400"/>
              </a:spcAft>
            </a:pPr>
            <a:r>
              <a:rPr sz="2200" b="1">
                <a:solidFill>
                  <a:srgbClr val="0B142A"/>
                </a:solidFill>
                <a:latin typeface="Segoe UI"/>
              </a:rPr>
              <a:t>85.9%</a:t>
            </a:r>
          </a:p>
        </p:txBody>
      </p:sp>
      <p:sp>
        <p:nvSpPr>
          <p:cNvPr id="35" name="TextBox 34"/>
          <p:cNvSpPr txBox="1"/>
          <p:nvPr/>
        </p:nvSpPr>
        <p:spPr>
          <a:xfrm>
            <a:off x="8156446" y="4251960"/>
            <a:ext cx="3227832" cy="365760"/>
          </a:xfrm>
          <a:prstGeom prst="rect">
            <a:avLst/>
          </a:prstGeom>
          <a:noFill/>
        </p:spPr>
        <p:txBody>
          <a:bodyPr wrap="square">
            <a:spAutoFit/>
          </a:bodyPr>
          <a:lstStyle/>
          <a:p>
            <a:pPr algn="l">
              <a:spcAft>
                <a:spcPts val="400"/>
              </a:spcAft>
            </a:pPr>
            <a:r>
              <a:rPr sz="900" b="0">
                <a:solidFill>
                  <a:srgbClr val="7A8599"/>
                </a:solidFill>
                <a:latin typeface="Segoe UI"/>
              </a:rPr>
              <a:t>Hybrid: chargeback tagged, showback remainder</a:t>
            </a:r>
          </a:p>
        </p:txBody>
      </p:sp>
      <p:sp>
        <p:nvSpPr>
          <p:cNvPr id="36" name="TextBox 35"/>
          <p:cNvSpPr txBox="1"/>
          <p:nvPr/>
        </p:nvSpPr>
        <p:spPr>
          <a:xfrm>
            <a:off x="640080" y="4892040"/>
            <a:ext cx="10881360" cy="1280160"/>
          </a:xfrm>
          <a:prstGeom prst="rect">
            <a:avLst/>
          </a:prstGeom>
          <a:noFill/>
        </p:spPr>
        <p:txBody>
          <a:bodyPr wrap="square">
            <a:spAutoFit/>
          </a:bodyPr>
          <a:lstStyle/>
          <a:p>
            <a:pPr algn="l">
              <a:spcAft>
                <a:spcPts val="400"/>
              </a:spcAft>
            </a:pPr>
            <a:r>
              <a:rPr sz="1200" b="0">
                <a:solidFill>
                  <a:srgbClr val="445066"/>
                </a:solidFill>
                <a:latin typeface="Segoe UI"/>
              </a:rPr>
              <a:t>Effective Savings Rate is the outcome metric, not coverage. 100% coverage at 60% utilisation is still a bad deal, and only ESR shows that. FinOps Foundation benchmarks: median ~0%, 75th percentile ~23%, 98th percentile ~46%. This estate sits at 21.6% — above median, with $327K of commitment already burned unused.</a:t>
            </a:r>
          </a:p>
        </p:txBody>
      </p:sp>
      <p:sp>
        <p:nvSpPr>
          <p:cNvPr id="37" name="TextBox 36"/>
          <p:cNvSpPr txBox="1"/>
          <p:nvPr/>
        </p:nvSpPr>
        <p:spPr>
          <a:xfrm>
            <a:off x="640080" y="6355080"/>
            <a:ext cx="8229600" cy="274320"/>
          </a:xfrm>
          <a:prstGeom prst="rect">
            <a:avLst/>
          </a:prstGeom>
          <a:noFill/>
        </p:spPr>
        <p:txBody>
          <a:bodyPr wrap="square">
            <a:spAutoFit/>
          </a:bodyPr>
          <a:lstStyle/>
          <a:p>
            <a:pPr algn="l">
              <a:spcAft>
                <a:spcPts val="400"/>
              </a:spcAft>
            </a:pPr>
            <a:r>
              <a:rPr sz="850" b="0">
                <a:solidFill>
                  <a:srgbClr val="7A8599"/>
                </a:solidFill>
                <a:latin typeface="Segoe UI"/>
              </a:rPr>
              <a:t>Figures computed from a synthetic 24-month utility estate shipped with the platform. No customer data.</a:t>
            </a:r>
          </a:p>
        </p:txBody>
      </p:sp>
      <p:sp>
        <p:nvSpPr>
          <p:cNvPr id="38" name="TextBox 37"/>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WHERE THE MONEY IS</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800" b="1">
                <a:solidFill>
                  <a:srgbClr val="0B142A"/>
                </a:solidFill>
                <a:latin typeface="Segoe UI"/>
              </a:rPr>
              <a:t>Spend by cloud and by month</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Amortised EffectiveCost — never blended or unblended on a leadership view</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965960"/>
          <a:ext cx="4937760" cy="3566160"/>
        </p:xfrm>
        <a:graphic>
          <a:graphicData uri="http://schemas.openxmlformats.org/drawingml/2006/chart">
            <c:chart xmlns:c="http://schemas.openxmlformats.org/drawingml/2006/chart" r:id="rId2"/>
          </a:graphicData>
        </a:graphic>
      </p:graphicFrame>
      <p:graphicFrame>
        <p:nvGraphicFramePr>
          <p:cNvPr id="7" name="Chart 6"/>
          <p:cNvGraphicFramePr>
            <a:graphicFrameLocks noGrp="1"/>
          </p:cNvGraphicFramePr>
          <p:nvPr/>
        </p:nvGraphicFramePr>
        <p:xfrm>
          <a:off x="5943600" y="1965960"/>
          <a:ext cx="5577840" cy="3566160"/>
        </p:xfrm>
        <a:graphic>
          <a:graphicData uri="http://schemas.openxmlformats.org/drawingml/2006/chart">
            <c:chart xmlns:c="http://schemas.openxmlformats.org/drawingml/2006/chart" r:id="rId3"/>
          </a:graphicData>
        </a:graphic>
      </p:graphicFrame>
      <p:sp>
        <p:nvSpPr>
          <p:cNvPr id="8" name="TextBox 7"/>
          <p:cNvSpPr txBox="1"/>
          <p:nvPr/>
        </p:nvSpPr>
        <p:spPr>
          <a:xfrm>
            <a:off x="640080" y="5623560"/>
            <a:ext cx="10881360" cy="548640"/>
          </a:xfrm>
          <a:prstGeom prst="rect">
            <a:avLst/>
          </a:prstGeom>
          <a:noFill/>
        </p:spPr>
        <p:txBody>
          <a:bodyPr wrap="square">
            <a:spAutoFit/>
          </a:bodyPr>
          <a:lstStyle/>
          <a:p>
            <a:pPr algn="l">
              <a:spcAft>
                <a:spcPts val="400"/>
              </a:spcAft>
            </a:pPr>
            <a:r>
              <a:rPr sz="1150" b="0">
                <a:solidFill>
                  <a:srgbClr val="7A8599"/>
                </a:solidFill>
                <a:latin typeface="Segoe UI"/>
              </a:rPr>
              <a:t>Month on month -0.6%.  Year on year +42.3% — the step change is a data-centre exit wave, which is precisely the shape a naive trend model extrapolates straight through.</a:t>
            </a:r>
          </a:p>
        </p:txBody>
      </p:sp>
      <p:sp>
        <p:nvSpPr>
          <p:cNvPr id="9" name="TextBox 8"/>
          <p:cNvSpPr txBox="1"/>
          <p:nvPr/>
        </p:nvSpPr>
        <p:spPr>
          <a:xfrm>
            <a:off x="640080" y="6355080"/>
            <a:ext cx="8229600" cy="274320"/>
          </a:xfrm>
          <a:prstGeom prst="rect">
            <a:avLst/>
          </a:prstGeom>
          <a:noFill/>
        </p:spPr>
        <p:txBody>
          <a:bodyPr wrap="square">
            <a:spAutoFit/>
          </a:bodyPr>
          <a:lstStyle/>
          <a:p>
            <a:pPr algn="l">
              <a:spcAft>
                <a:spcPts val="400"/>
              </a:spcAft>
            </a:pPr>
            <a:r>
              <a:rPr sz="850" b="0">
                <a:solidFill>
                  <a:srgbClr val="7A8599"/>
                </a:solidFill>
                <a:latin typeface="Segoe UI"/>
              </a:rPr>
              <a:t>Figures computed from a synthetic 24-month utility estate shipped with the platform. No customer data.</a:t>
            </a:r>
          </a:p>
        </p:txBody>
      </p:sp>
      <p:sp>
        <p:nvSpPr>
          <p:cNvPr id="10" name="TextBox 9"/>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SHOWBACK &amp; CHARGEBACK</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800" b="1">
                <a:solidFill>
                  <a:srgbClr val="0B142A"/>
                </a:solidFill>
                <a:latin typeface="Segoe UI"/>
              </a:rPr>
              <a:t>A defensible split, including the shared-cost pool</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Direct costs, plus each unit's share of the platform they all consume</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965960"/>
          <a:ext cx="6035040" cy="3657600"/>
        </p:xfrm>
        <a:graphic>
          <a:graphicData uri="http://schemas.openxmlformats.org/drawingml/2006/chart">
            <c:chart xmlns:c="http://schemas.openxmlformats.org/drawingml/2006/chart" r:id="rId2"/>
          </a:graphicData>
        </a:graphic>
      </p:graphicFrame>
      <p:sp>
        <p:nvSpPr>
          <p:cNvPr id="7" name="TextBox 6"/>
          <p:cNvSpPr txBox="1"/>
          <p:nvPr/>
        </p:nvSpPr>
        <p:spPr>
          <a:xfrm>
            <a:off x="6949440" y="1965960"/>
            <a:ext cx="4572000" cy="365760"/>
          </a:xfrm>
          <a:prstGeom prst="rect">
            <a:avLst/>
          </a:prstGeom>
          <a:noFill/>
        </p:spPr>
        <p:txBody>
          <a:bodyPr wrap="square">
            <a:spAutoFit/>
          </a:bodyPr>
          <a:lstStyle/>
          <a:p>
            <a:pPr algn="l">
              <a:spcAft>
                <a:spcPts val="400"/>
              </a:spcAft>
            </a:pPr>
            <a:r>
              <a:rPr sz="1400" b="1">
                <a:solidFill>
                  <a:srgbClr val="0B142A"/>
                </a:solidFill>
                <a:latin typeface="Segoe UI"/>
              </a:rPr>
              <a:t>Five allocation methods</a:t>
            </a:r>
          </a:p>
        </p:txBody>
      </p:sp>
      <p:sp>
        <p:nvSpPr>
          <p:cNvPr id="8" name="TextBox 7"/>
          <p:cNvSpPr txBox="1"/>
          <p:nvPr/>
        </p:nvSpPr>
        <p:spPr>
          <a:xfrm>
            <a:off x="6949440" y="2377440"/>
            <a:ext cx="4572000" cy="1828800"/>
          </a:xfrm>
          <a:prstGeom prst="rect">
            <a:avLst/>
          </a:prstGeom>
          <a:noFill/>
        </p:spPr>
        <p:txBody>
          <a:bodyPr wrap="square">
            <a:spAutoFit/>
          </a:bodyPr>
          <a:lstStyle/>
          <a:p>
            <a:pPr>
              <a:spcAft>
                <a:spcPts val="900"/>
              </a:spcAft>
            </a:pPr>
            <a:r>
              <a:rPr sz="1150">
                <a:solidFill>
                  <a:srgbClr val="445066"/>
                </a:solidFill>
                <a:latin typeface="Segoe UI"/>
              </a:rPr>
              <a:t>—  Direct — the resource carries its own owner tag</a:t>
            </a:r>
          </a:p>
          <a:p>
            <a:pPr>
              <a:spcAft>
                <a:spcPts val="900"/>
              </a:spcAft>
            </a:pPr>
            <a:r>
              <a:rPr sz="1150">
                <a:solidFill>
                  <a:srgbClr val="445066"/>
                </a:solidFill>
                <a:latin typeface="Segoe UI"/>
              </a:rPr>
              <a:t>—  Even split — pool ÷ N consumers</a:t>
            </a:r>
          </a:p>
          <a:p>
            <a:pPr>
              <a:spcAft>
                <a:spcPts val="900"/>
              </a:spcAft>
            </a:pPr>
            <a:r>
              <a:rPr sz="1150">
                <a:solidFill>
                  <a:srgbClr val="445066"/>
                </a:solidFill>
                <a:latin typeface="Segoe UI"/>
              </a:rPr>
              <a:t>—  Proportional to direct spend — the fair tax</a:t>
            </a:r>
          </a:p>
          <a:p>
            <a:pPr>
              <a:spcAft>
                <a:spcPts val="900"/>
              </a:spcAft>
            </a:pPr>
            <a:r>
              <a:rPr sz="1150">
                <a:solidFill>
                  <a:srgbClr val="445066"/>
                </a:solidFill>
                <a:latin typeface="Segoe UI"/>
              </a:rPr>
              <a:t>—  Fixed percentage — a negotiated share</a:t>
            </a:r>
          </a:p>
          <a:p>
            <a:pPr>
              <a:spcAft>
                <a:spcPts val="900"/>
              </a:spcAft>
            </a:pPr>
            <a:r>
              <a:rPr sz="1150">
                <a:solidFill>
                  <a:srgbClr val="445066"/>
                </a:solidFill>
                <a:latin typeface="Segoe UI"/>
              </a:rPr>
              <a:t>—  Usage driver — a metered proxy</a:t>
            </a:r>
          </a:p>
        </p:txBody>
      </p:sp>
      <p:sp>
        <p:nvSpPr>
          <p:cNvPr id="9" name="TextBox 8"/>
          <p:cNvSpPr txBox="1"/>
          <p:nvPr/>
        </p:nvSpPr>
        <p:spPr>
          <a:xfrm>
            <a:off x="6949440" y="4297680"/>
            <a:ext cx="4572000" cy="1463040"/>
          </a:xfrm>
          <a:prstGeom prst="rect">
            <a:avLst/>
          </a:prstGeom>
          <a:noFill/>
        </p:spPr>
        <p:txBody>
          <a:bodyPr wrap="square">
            <a:spAutoFit/>
          </a:bodyPr>
          <a:lstStyle/>
          <a:p>
            <a:pPr algn="l">
              <a:spcAft>
                <a:spcPts val="400"/>
              </a:spcAft>
            </a:pPr>
            <a:r>
              <a:rPr sz="1100" b="0">
                <a:solidFill>
                  <a:srgbClr val="445066"/>
                </a:solidFill>
                <a:latin typeface="Segoe UI"/>
              </a:rPr>
              <a:t>Allocation coverage is 85.9%. Practitioner consensus puts the chargeback-readiness line near 90%, so this estate is: hybrid: chargeback tagged, showback remainder. Showback moves information; chargeback moves money. Neither is 'more mature' — it is an accounting-policy choice.</a:t>
            </a:r>
          </a:p>
        </p:txBody>
      </p:sp>
      <p:sp>
        <p:nvSpPr>
          <p:cNvPr id="10" name="TextBox 9"/>
          <p:cNvSpPr txBox="1"/>
          <p:nvPr/>
        </p:nvSpPr>
        <p:spPr>
          <a:xfrm>
            <a:off x="640080" y="6355080"/>
            <a:ext cx="8229600" cy="274320"/>
          </a:xfrm>
          <a:prstGeom prst="rect">
            <a:avLst/>
          </a:prstGeom>
          <a:noFill/>
        </p:spPr>
        <p:txBody>
          <a:bodyPr wrap="square">
            <a:spAutoFit/>
          </a:bodyPr>
          <a:lstStyle/>
          <a:p>
            <a:pPr algn="l">
              <a:spcAft>
                <a:spcPts val="400"/>
              </a:spcAft>
            </a:pPr>
            <a:r>
              <a:rPr sz="850" b="0">
                <a:solidFill>
                  <a:srgbClr val="7A8599"/>
                </a:solidFill>
                <a:latin typeface="Segoe UI"/>
              </a:rPr>
              <a:t>Figures computed from a synthetic 24-month utility estate shipped with the platform. No customer data.</a:t>
            </a:r>
          </a:p>
        </p:txBody>
      </p:sp>
      <p:sp>
        <p:nvSpPr>
          <p:cNvPr id="11" name="TextBox 10"/>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FORECAST &amp; BUDGET</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800" b="1">
                <a:solidFill>
                  <a:srgbClr val="0B142A"/>
                </a:solidFill>
                <a:latin typeface="Segoe UI"/>
              </a:rPr>
              <a:t>Two years ahead, and the cliff a trend line cannot see</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Method chosen by rolling-origin backtest: Linear · WAPE 4.83% (Best-in-class)</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965960"/>
          <a:ext cx="6766560" cy="3566160"/>
        </p:xfrm>
        <a:graphic>
          <a:graphicData uri="http://schemas.openxmlformats.org/drawingml/2006/chart">
            <c:chart xmlns:c="http://schemas.openxmlformats.org/drawingml/2006/chart" r:id="rId2"/>
          </a:graphicData>
        </a:graphic>
      </p:graphicFrame>
      <p:sp>
        <p:nvSpPr>
          <p:cNvPr id="7" name="Rounded Rectangle 6"/>
          <p:cNvSpPr/>
          <p:nvPr/>
        </p:nvSpPr>
        <p:spPr>
          <a:xfrm>
            <a:off x="7772400" y="1965960"/>
            <a:ext cx="3749039" cy="114300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0" y="1965960"/>
            <a:ext cx="44450" cy="11430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36992" y="2057400"/>
            <a:ext cx="3474719" cy="256032"/>
          </a:xfrm>
          <a:prstGeom prst="rect">
            <a:avLst/>
          </a:prstGeom>
          <a:noFill/>
        </p:spPr>
        <p:txBody>
          <a:bodyPr wrap="square">
            <a:spAutoFit/>
          </a:bodyPr>
          <a:lstStyle/>
          <a:p>
            <a:pPr algn="l">
              <a:spcAft>
                <a:spcPts val="400"/>
              </a:spcAft>
            </a:pPr>
            <a:r>
              <a:rPr sz="850" b="1">
                <a:solidFill>
                  <a:srgbClr val="7A8599"/>
                </a:solidFill>
                <a:latin typeface="Segoe UI"/>
              </a:rPr>
              <a:t>24-MONTH FORECAST</a:t>
            </a:r>
          </a:p>
        </p:txBody>
      </p:sp>
      <p:sp>
        <p:nvSpPr>
          <p:cNvPr id="10" name="TextBox 9"/>
          <p:cNvSpPr txBox="1"/>
          <p:nvPr/>
        </p:nvSpPr>
        <p:spPr>
          <a:xfrm>
            <a:off x="7936992" y="2295144"/>
            <a:ext cx="3474719" cy="457200"/>
          </a:xfrm>
          <a:prstGeom prst="rect">
            <a:avLst/>
          </a:prstGeom>
          <a:noFill/>
        </p:spPr>
        <p:txBody>
          <a:bodyPr wrap="square">
            <a:spAutoFit/>
          </a:bodyPr>
          <a:lstStyle/>
          <a:p>
            <a:pPr algn="l">
              <a:spcAft>
                <a:spcPts val="400"/>
              </a:spcAft>
            </a:pPr>
            <a:r>
              <a:rPr sz="2200" b="1">
                <a:solidFill>
                  <a:srgbClr val="0B142A"/>
                </a:solidFill>
                <a:latin typeface="Segoe UI"/>
              </a:rPr>
              <a:t>$46.46M</a:t>
            </a:r>
          </a:p>
        </p:txBody>
      </p:sp>
      <p:sp>
        <p:nvSpPr>
          <p:cNvPr id="11" name="TextBox 10"/>
          <p:cNvSpPr txBox="1"/>
          <p:nvPr/>
        </p:nvSpPr>
        <p:spPr>
          <a:xfrm>
            <a:off x="7936992" y="2788920"/>
            <a:ext cx="3474719" cy="365760"/>
          </a:xfrm>
          <a:prstGeom prst="rect">
            <a:avLst/>
          </a:prstGeom>
          <a:noFill/>
        </p:spPr>
        <p:txBody>
          <a:bodyPr wrap="square">
            <a:spAutoFit/>
          </a:bodyPr>
          <a:lstStyle/>
          <a:p>
            <a:pPr algn="l">
              <a:spcAft>
                <a:spcPts val="400"/>
              </a:spcAft>
            </a:pPr>
            <a:r>
              <a:rPr sz="900" b="0">
                <a:solidFill>
                  <a:srgbClr val="7A8599"/>
                </a:solidFill>
                <a:latin typeface="Segoe UI"/>
              </a:rPr>
              <a:t>point estimate, cumulative</a:t>
            </a:r>
          </a:p>
        </p:txBody>
      </p:sp>
      <p:sp>
        <p:nvSpPr>
          <p:cNvPr id="12" name="Rounded Rectangle 11"/>
          <p:cNvSpPr/>
          <p:nvPr/>
        </p:nvSpPr>
        <p:spPr>
          <a:xfrm>
            <a:off x="7772400" y="3246120"/>
            <a:ext cx="3749039" cy="114300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0" y="3246120"/>
            <a:ext cx="44450" cy="1143000"/>
          </a:xfrm>
          <a:prstGeom prst="rect">
            <a:avLst/>
          </a:prstGeom>
          <a:solidFill>
            <a:srgbClr val="C2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36992" y="3337560"/>
            <a:ext cx="3474719" cy="256032"/>
          </a:xfrm>
          <a:prstGeom prst="rect">
            <a:avLst/>
          </a:prstGeom>
          <a:noFill/>
        </p:spPr>
        <p:txBody>
          <a:bodyPr wrap="square">
            <a:spAutoFit/>
          </a:bodyPr>
          <a:lstStyle/>
          <a:p>
            <a:pPr algn="l">
              <a:spcAft>
                <a:spcPts val="400"/>
              </a:spcAft>
            </a:pPr>
            <a:r>
              <a:rPr sz="850" b="1">
                <a:solidFill>
                  <a:srgbClr val="7A8599"/>
                </a:solidFill>
                <a:latin typeface="Segoe UI"/>
              </a:rPr>
              <a:t>WITH COMMITMENT CLIFFS</a:t>
            </a:r>
          </a:p>
        </p:txBody>
      </p:sp>
      <p:sp>
        <p:nvSpPr>
          <p:cNvPr id="15" name="TextBox 14"/>
          <p:cNvSpPr txBox="1"/>
          <p:nvPr/>
        </p:nvSpPr>
        <p:spPr>
          <a:xfrm>
            <a:off x="7936992" y="3575304"/>
            <a:ext cx="3474719" cy="457200"/>
          </a:xfrm>
          <a:prstGeom prst="rect">
            <a:avLst/>
          </a:prstGeom>
          <a:noFill/>
        </p:spPr>
        <p:txBody>
          <a:bodyPr wrap="square">
            <a:spAutoFit/>
          </a:bodyPr>
          <a:lstStyle/>
          <a:p>
            <a:pPr algn="l">
              <a:spcAft>
                <a:spcPts val="400"/>
              </a:spcAft>
            </a:pPr>
            <a:r>
              <a:rPr sz="2200" b="1">
                <a:solidFill>
                  <a:srgbClr val="0B142A"/>
                </a:solidFill>
                <a:latin typeface="Segoe UI"/>
              </a:rPr>
              <a:t>$51.16M</a:t>
            </a:r>
          </a:p>
        </p:txBody>
      </p:sp>
      <p:sp>
        <p:nvSpPr>
          <p:cNvPr id="16" name="TextBox 15"/>
          <p:cNvSpPr txBox="1"/>
          <p:nvPr/>
        </p:nvSpPr>
        <p:spPr>
          <a:xfrm>
            <a:off x="7936992" y="4069080"/>
            <a:ext cx="3474719" cy="365760"/>
          </a:xfrm>
          <a:prstGeom prst="rect">
            <a:avLst/>
          </a:prstGeom>
          <a:noFill/>
        </p:spPr>
        <p:txBody>
          <a:bodyPr wrap="square">
            <a:spAutoFit/>
          </a:bodyPr>
          <a:lstStyle/>
          <a:p>
            <a:pPr algn="l">
              <a:spcAft>
                <a:spcPts val="400"/>
              </a:spcAft>
            </a:pPr>
            <a:r>
              <a:rPr sz="900" b="0">
                <a:solidFill>
                  <a:srgbClr val="7A8599"/>
                </a:solidFill>
                <a:latin typeface="Segoe UI"/>
              </a:rPr>
              <a:t>expiry in Jul 2026</a:t>
            </a:r>
          </a:p>
        </p:txBody>
      </p:sp>
      <p:sp>
        <p:nvSpPr>
          <p:cNvPr id="17" name="TextBox 16"/>
          <p:cNvSpPr txBox="1"/>
          <p:nvPr/>
        </p:nvSpPr>
        <p:spPr>
          <a:xfrm>
            <a:off x="7772400" y="4572000"/>
            <a:ext cx="3749039" cy="1463040"/>
          </a:xfrm>
          <a:prstGeom prst="rect">
            <a:avLst/>
          </a:prstGeom>
          <a:noFill/>
        </p:spPr>
        <p:txBody>
          <a:bodyPr wrap="square">
            <a:spAutoFit/>
          </a:bodyPr>
          <a:lstStyle/>
          <a:p>
            <a:pPr algn="l">
              <a:spcAft>
                <a:spcPts val="400"/>
              </a:spcAft>
            </a:pPr>
            <a:r>
              <a:rPr sz="1100" b="0">
                <a:solidFill>
                  <a:srgbClr val="445066"/>
                </a:solidFill>
                <a:latin typeface="Segoe UI"/>
              </a:rPr>
              <a:t>When an RI, Savings Plan or CUD term ends, the rate snaps back to on-demand. The overlay adds $4.70M the trend line never sees. This is the single most important thing naive cloud forecasting misses.</a:t>
            </a:r>
          </a:p>
        </p:txBody>
      </p:sp>
      <p:sp>
        <p:nvSpPr>
          <p:cNvPr id="18" name="TextBox 17"/>
          <p:cNvSpPr txBox="1"/>
          <p:nvPr/>
        </p:nvSpPr>
        <p:spPr>
          <a:xfrm>
            <a:off x="640080" y="5669280"/>
            <a:ext cx="10881360" cy="502920"/>
          </a:xfrm>
          <a:prstGeom prst="rect">
            <a:avLst/>
          </a:prstGeom>
          <a:noFill/>
        </p:spPr>
        <p:txBody>
          <a:bodyPr wrap="square">
            <a:spAutoFit/>
          </a:bodyPr>
          <a:lstStyle/>
          <a:p>
            <a:pPr algn="l">
              <a:spcAft>
                <a:spcPts val="400"/>
              </a:spcAft>
            </a:pPr>
            <a:r>
              <a:rPr sz="1100" b="0">
                <a:solidFill>
                  <a:srgbClr val="7A8599"/>
                </a:solidFill>
                <a:latin typeface="Segoe UI"/>
              </a:rPr>
              <a:t>Foundation forecast-variance maturity bands: Crawl &lt;20%, Walk &lt;15%, Run &lt;12%, best-in-class &lt;5%. WAPE is dollar-weighted, so a small service rounding to zero cannot dominate the score the way it does under MAPE.</a:t>
            </a:r>
          </a:p>
        </p:txBody>
      </p:sp>
      <p:sp>
        <p:nvSpPr>
          <p:cNvPr id="19" name="TextBox 18"/>
          <p:cNvSpPr txBox="1"/>
          <p:nvPr/>
        </p:nvSpPr>
        <p:spPr>
          <a:xfrm>
            <a:off x="640080" y="6355080"/>
            <a:ext cx="8229600" cy="274320"/>
          </a:xfrm>
          <a:prstGeom prst="rect">
            <a:avLst/>
          </a:prstGeom>
          <a:noFill/>
        </p:spPr>
        <p:txBody>
          <a:bodyPr wrap="square">
            <a:spAutoFit/>
          </a:bodyPr>
          <a:lstStyle/>
          <a:p>
            <a:pPr algn="l">
              <a:spcAft>
                <a:spcPts val="400"/>
              </a:spcAft>
            </a:pPr>
            <a:r>
              <a:rPr sz="850" b="0">
                <a:solidFill>
                  <a:srgbClr val="7A8599"/>
                </a:solidFill>
                <a:latin typeface="Segoe UI"/>
              </a:rPr>
              <a:t>Figures computed from a synthetic 24-month utility estate shipped with the platform. No customer data.</a:t>
            </a:r>
          </a:p>
        </p:txBody>
      </p:sp>
      <p:sp>
        <p:nvSpPr>
          <p:cNvPr id="20" name="TextBox 19"/>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OPTIMIZATION</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800" b="1">
                <a:solidFill>
                  <a:srgbClr val="0B142A"/>
                </a:solidFill>
                <a:latin typeface="Segoe UI"/>
              </a:rPr>
              <a:t>$4.95M identified, across 30 opportunities</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Detected from the FOCUS frame by rule, not read from a vendor's recommendation API</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2011680"/>
          <a:ext cx="4480560" cy="3200400"/>
        </p:xfrm>
        <a:graphic>
          <a:graphicData uri="http://schemas.openxmlformats.org/drawingml/2006/chart">
            <c:chart xmlns:c="http://schemas.openxmlformats.org/drawingml/2006/chart" r:id="rId2"/>
          </a:graphicData>
        </a:graphic>
      </p:graphicFrame>
      <p:sp>
        <p:nvSpPr>
          <p:cNvPr id="7" name="TextBox 6"/>
          <p:cNvSpPr txBox="1"/>
          <p:nvPr/>
        </p:nvSpPr>
        <p:spPr>
          <a:xfrm>
            <a:off x="5486400" y="1965960"/>
            <a:ext cx="6035040" cy="320040"/>
          </a:xfrm>
          <a:prstGeom prst="rect">
            <a:avLst/>
          </a:prstGeom>
          <a:noFill/>
        </p:spPr>
        <p:txBody>
          <a:bodyPr wrap="square">
            <a:spAutoFit/>
          </a:bodyPr>
          <a:lstStyle/>
          <a:p>
            <a:pPr algn="l">
              <a:spcAft>
                <a:spcPts val="400"/>
              </a:spcAft>
            </a:pPr>
            <a:r>
              <a:rPr sz="1300" b="1">
                <a:solidFill>
                  <a:srgbClr val="0B142A"/>
                </a:solidFill>
                <a:latin typeface="Segoe UI"/>
              </a:rPr>
              <a:t>Largest opportunities</a:t>
            </a:r>
          </a:p>
        </p:txBody>
      </p:sp>
      <p:sp>
        <p:nvSpPr>
          <p:cNvPr id="8" name="Rounded Rectangle 7"/>
          <p:cNvSpPr/>
          <p:nvPr/>
        </p:nvSpPr>
        <p:spPr>
          <a:xfrm>
            <a:off x="5486400" y="2377440"/>
            <a:ext cx="6035040" cy="292608"/>
          </a:xfrm>
          <a:prstGeom prst="roundRect">
            <a:avLst>
              <a:gd name="adj" fmla="val 6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577840" y="2395728"/>
            <a:ext cx="548640" cy="256032"/>
          </a:xfrm>
          <a:prstGeom prst="rect">
            <a:avLst/>
          </a:prstGeom>
          <a:noFill/>
        </p:spPr>
        <p:txBody>
          <a:bodyPr wrap="square">
            <a:spAutoFit/>
          </a:bodyPr>
          <a:lstStyle/>
          <a:p>
            <a:pPr algn="l">
              <a:spcAft>
                <a:spcPts val="400"/>
              </a:spcAft>
            </a:pPr>
            <a:r>
              <a:rPr sz="900" b="1">
                <a:solidFill>
                  <a:srgbClr val="7A8599"/>
                </a:solidFill>
                <a:latin typeface="Segoe UI"/>
              </a:rPr>
              <a:t>Lever</a:t>
            </a:r>
          </a:p>
        </p:txBody>
      </p:sp>
      <p:sp>
        <p:nvSpPr>
          <p:cNvPr id="10" name="TextBox 9"/>
          <p:cNvSpPr txBox="1"/>
          <p:nvPr/>
        </p:nvSpPr>
        <p:spPr>
          <a:xfrm>
            <a:off x="6172200" y="2395728"/>
            <a:ext cx="2468880" cy="256032"/>
          </a:xfrm>
          <a:prstGeom prst="rect">
            <a:avLst/>
          </a:prstGeom>
          <a:noFill/>
        </p:spPr>
        <p:txBody>
          <a:bodyPr wrap="square">
            <a:spAutoFit/>
          </a:bodyPr>
          <a:lstStyle/>
          <a:p>
            <a:pPr algn="l">
              <a:spcAft>
                <a:spcPts val="400"/>
              </a:spcAft>
            </a:pPr>
            <a:r>
              <a:rPr sz="900" b="1">
                <a:solidFill>
                  <a:srgbClr val="7A8599"/>
                </a:solidFill>
                <a:latin typeface="Segoe UI"/>
              </a:rPr>
              <a:t>Name</a:t>
            </a:r>
          </a:p>
        </p:txBody>
      </p:sp>
      <p:sp>
        <p:nvSpPr>
          <p:cNvPr id="11" name="TextBox 10"/>
          <p:cNvSpPr txBox="1"/>
          <p:nvPr/>
        </p:nvSpPr>
        <p:spPr>
          <a:xfrm>
            <a:off x="8686800" y="2395728"/>
            <a:ext cx="914400" cy="256032"/>
          </a:xfrm>
          <a:prstGeom prst="rect">
            <a:avLst/>
          </a:prstGeom>
          <a:noFill/>
        </p:spPr>
        <p:txBody>
          <a:bodyPr wrap="square">
            <a:spAutoFit/>
          </a:bodyPr>
          <a:lstStyle/>
          <a:p>
            <a:pPr algn="l">
              <a:spcAft>
                <a:spcPts val="400"/>
              </a:spcAft>
            </a:pPr>
            <a:r>
              <a:rPr sz="900" b="1">
                <a:solidFill>
                  <a:srgbClr val="7A8599"/>
                </a:solidFill>
                <a:latin typeface="Segoe UI"/>
              </a:rPr>
              <a:t>Cloud</a:t>
            </a:r>
          </a:p>
        </p:txBody>
      </p:sp>
      <p:sp>
        <p:nvSpPr>
          <p:cNvPr id="12" name="TextBox 11"/>
          <p:cNvSpPr txBox="1"/>
          <p:nvPr/>
        </p:nvSpPr>
        <p:spPr>
          <a:xfrm>
            <a:off x="9646920" y="2395728"/>
            <a:ext cx="1005840" cy="256032"/>
          </a:xfrm>
          <a:prstGeom prst="rect">
            <a:avLst/>
          </a:prstGeom>
          <a:noFill/>
        </p:spPr>
        <p:txBody>
          <a:bodyPr wrap="square">
            <a:spAutoFit/>
          </a:bodyPr>
          <a:lstStyle/>
          <a:p>
            <a:pPr algn="l">
              <a:spcAft>
                <a:spcPts val="400"/>
              </a:spcAft>
            </a:pPr>
            <a:r>
              <a:rPr sz="900" b="1">
                <a:solidFill>
                  <a:srgbClr val="7A8599"/>
                </a:solidFill>
                <a:latin typeface="Segoe UI"/>
              </a:rPr>
              <a:t>Annual</a:t>
            </a:r>
          </a:p>
        </p:txBody>
      </p:sp>
      <p:sp>
        <p:nvSpPr>
          <p:cNvPr id="13" name="TextBox 12"/>
          <p:cNvSpPr txBox="1"/>
          <p:nvPr/>
        </p:nvSpPr>
        <p:spPr>
          <a:xfrm>
            <a:off x="10698480" y="2395728"/>
            <a:ext cx="777240" cy="256032"/>
          </a:xfrm>
          <a:prstGeom prst="rect">
            <a:avLst/>
          </a:prstGeom>
          <a:noFill/>
        </p:spPr>
        <p:txBody>
          <a:bodyPr wrap="square">
            <a:spAutoFit/>
          </a:bodyPr>
          <a:lstStyle/>
          <a:p>
            <a:pPr algn="l">
              <a:spcAft>
                <a:spcPts val="400"/>
              </a:spcAft>
            </a:pPr>
            <a:r>
              <a:rPr sz="900" b="1">
                <a:solidFill>
                  <a:srgbClr val="7A8599"/>
                </a:solidFill>
                <a:latin typeface="Segoe UI"/>
              </a:rPr>
              <a:t>Effort/Risk</a:t>
            </a:r>
          </a:p>
        </p:txBody>
      </p:sp>
      <p:sp>
        <p:nvSpPr>
          <p:cNvPr id="14" name="TextBox 13"/>
          <p:cNvSpPr txBox="1"/>
          <p:nvPr/>
        </p:nvSpPr>
        <p:spPr>
          <a:xfrm>
            <a:off x="5577840" y="2706624"/>
            <a:ext cx="548640" cy="274320"/>
          </a:xfrm>
          <a:prstGeom prst="rect">
            <a:avLst/>
          </a:prstGeom>
          <a:noFill/>
        </p:spPr>
        <p:txBody>
          <a:bodyPr wrap="square">
            <a:spAutoFit/>
          </a:bodyPr>
          <a:lstStyle/>
          <a:p>
            <a:pPr algn="l">
              <a:spcAft>
                <a:spcPts val="400"/>
              </a:spcAft>
            </a:pPr>
            <a:r>
              <a:rPr sz="950" b="1">
                <a:solidFill>
                  <a:srgbClr val="0B142A"/>
                </a:solidFill>
                <a:latin typeface="Segoe UI"/>
              </a:rPr>
              <a:t>R1</a:t>
            </a:r>
          </a:p>
        </p:txBody>
      </p:sp>
      <p:sp>
        <p:nvSpPr>
          <p:cNvPr id="15" name="TextBox 14"/>
          <p:cNvSpPr txBox="1"/>
          <p:nvPr/>
        </p:nvSpPr>
        <p:spPr>
          <a:xfrm>
            <a:off x="6172200" y="2706624"/>
            <a:ext cx="2468880" cy="274320"/>
          </a:xfrm>
          <a:prstGeom prst="rect">
            <a:avLst/>
          </a:prstGeom>
          <a:noFill/>
        </p:spPr>
        <p:txBody>
          <a:bodyPr wrap="square">
            <a:spAutoFit/>
          </a:bodyPr>
          <a:lstStyle/>
          <a:p>
            <a:pPr algn="l">
              <a:spcAft>
                <a:spcPts val="400"/>
              </a:spcAft>
            </a:pPr>
            <a:r>
              <a:rPr sz="950" b="0">
                <a:solidFill>
                  <a:srgbClr val="445066"/>
                </a:solidFill>
                <a:latin typeface="Segoe UI"/>
              </a:rPr>
              <a:t>AWS Compute Savings Plan</a:t>
            </a:r>
          </a:p>
        </p:txBody>
      </p:sp>
      <p:sp>
        <p:nvSpPr>
          <p:cNvPr id="16" name="TextBox 15"/>
          <p:cNvSpPr txBox="1"/>
          <p:nvPr/>
        </p:nvSpPr>
        <p:spPr>
          <a:xfrm>
            <a:off x="8686800" y="2706624"/>
            <a:ext cx="914400" cy="274320"/>
          </a:xfrm>
          <a:prstGeom prst="rect">
            <a:avLst/>
          </a:prstGeom>
          <a:noFill/>
        </p:spPr>
        <p:txBody>
          <a:bodyPr wrap="square">
            <a:spAutoFit/>
          </a:bodyPr>
          <a:lstStyle/>
          <a:p>
            <a:pPr algn="l">
              <a:spcAft>
                <a:spcPts val="400"/>
              </a:spcAft>
            </a:pPr>
            <a:r>
              <a:rPr sz="950" b="0">
                <a:solidFill>
                  <a:srgbClr val="445066"/>
                </a:solidFill>
                <a:latin typeface="Segoe UI"/>
              </a:rPr>
              <a:t>AWS</a:t>
            </a:r>
          </a:p>
        </p:txBody>
      </p:sp>
      <p:sp>
        <p:nvSpPr>
          <p:cNvPr id="17" name="TextBox 16"/>
          <p:cNvSpPr txBox="1"/>
          <p:nvPr/>
        </p:nvSpPr>
        <p:spPr>
          <a:xfrm>
            <a:off x="9646920" y="2706624"/>
            <a:ext cx="1005840" cy="274320"/>
          </a:xfrm>
          <a:prstGeom prst="rect">
            <a:avLst/>
          </a:prstGeom>
          <a:noFill/>
        </p:spPr>
        <p:txBody>
          <a:bodyPr wrap="square">
            <a:spAutoFit/>
          </a:bodyPr>
          <a:lstStyle/>
          <a:p>
            <a:pPr algn="l">
              <a:spcAft>
                <a:spcPts val="400"/>
              </a:spcAft>
            </a:pPr>
            <a:r>
              <a:rPr sz="950" b="1">
                <a:solidFill>
                  <a:srgbClr val="0B142A"/>
                </a:solidFill>
                <a:latin typeface="Segoe UI"/>
              </a:rPr>
              <a:t>$1.33M</a:t>
            </a:r>
          </a:p>
        </p:txBody>
      </p:sp>
      <p:sp>
        <p:nvSpPr>
          <p:cNvPr id="18" name="TextBox 17"/>
          <p:cNvSpPr txBox="1"/>
          <p:nvPr/>
        </p:nvSpPr>
        <p:spPr>
          <a:xfrm>
            <a:off x="10698480" y="2706624"/>
            <a:ext cx="777240" cy="274320"/>
          </a:xfrm>
          <a:prstGeom prst="rect">
            <a:avLst/>
          </a:prstGeom>
          <a:noFill/>
        </p:spPr>
        <p:txBody>
          <a:bodyPr wrap="square">
            <a:spAutoFit/>
          </a:bodyPr>
          <a:lstStyle/>
          <a:p>
            <a:pPr algn="l">
              <a:spcAft>
                <a:spcPts val="400"/>
              </a:spcAft>
            </a:pPr>
            <a:r>
              <a:rPr sz="950" b="0">
                <a:solidFill>
                  <a:srgbClr val="445066"/>
                </a:solidFill>
                <a:latin typeface="Segoe UI"/>
              </a:rPr>
              <a:t>Low/Low</a:t>
            </a:r>
          </a:p>
        </p:txBody>
      </p:sp>
      <p:sp>
        <p:nvSpPr>
          <p:cNvPr id="19" name="TextBox 18"/>
          <p:cNvSpPr txBox="1"/>
          <p:nvPr/>
        </p:nvSpPr>
        <p:spPr>
          <a:xfrm>
            <a:off x="5577840" y="3035808"/>
            <a:ext cx="548640" cy="274320"/>
          </a:xfrm>
          <a:prstGeom prst="rect">
            <a:avLst/>
          </a:prstGeom>
          <a:noFill/>
        </p:spPr>
        <p:txBody>
          <a:bodyPr wrap="square">
            <a:spAutoFit/>
          </a:bodyPr>
          <a:lstStyle/>
          <a:p>
            <a:pPr algn="l">
              <a:spcAft>
                <a:spcPts val="400"/>
              </a:spcAft>
            </a:pPr>
            <a:r>
              <a:rPr sz="950" b="1">
                <a:solidFill>
                  <a:srgbClr val="0B142A"/>
                </a:solidFill>
                <a:latin typeface="Segoe UI"/>
              </a:rPr>
              <a:t>U10</a:t>
            </a:r>
          </a:p>
        </p:txBody>
      </p:sp>
      <p:sp>
        <p:nvSpPr>
          <p:cNvPr id="20" name="TextBox 19"/>
          <p:cNvSpPr txBox="1"/>
          <p:nvPr/>
        </p:nvSpPr>
        <p:spPr>
          <a:xfrm>
            <a:off x="6172200" y="3035808"/>
            <a:ext cx="2468880" cy="274320"/>
          </a:xfrm>
          <a:prstGeom prst="rect">
            <a:avLst/>
          </a:prstGeom>
          <a:noFill/>
        </p:spPr>
        <p:txBody>
          <a:bodyPr wrap="square">
            <a:spAutoFit/>
          </a:bodyPr>
          <a:lstStyle/>
          <a:p>
            <a:pPr algn="l">
              <a:spcAft>
                <a:spcPts val="400"/>
              </a:spcAft>
            </a:pPr>
            <a:r>
              <a:rPr sz="950" b="0">
                <a:solidFill>
                  <a:srgbClr val="445066"/>
                </a:solidFill>
                <a:latin typeface="Segoe UI"/>
              </a:rPr>
              <a:t>Schedule / park non-prod</a:t>
            </a:r>
          </a:p>
        </p:txBody>
      </p:sp>
      <p:sp>
        <p:nvSpPr>
          <p:cNvPr id="21" name="TextBox 20"/>
          <p:cNvSpPr txBox="1"/>
          <p:nvPr/>
        </p:nvSpPr>
        <p:spPr>
          <a:xfrm>
            <a:off x="8686800" y="3035808"/>
            <a:ext cx="914400" cy="274320"/>
          </a:xfrm>
          <a:prstGeom prst="rect">
            <a:avLst/>
          </a:prstGeom>
          <a:noFill/>
        </p:spPr>
        <p:txBody>
          <a:bodyPr wrap="square">
            <a:spAutoFit/>
          </a:bodyPr>
          <a:lstStyle/>
          <a:p>
            <a:pPr algn="l">
              <a:spcAft>
                <a:spcPts val="400"/>
              </a:spcAft>
            </a:pPr>
            <a:r>
              <a:rPr sz="950" b="0">
                <a:solidFill>
                  <a:srgbClr val="445066"/>
                </a:solidFill>
                <a:latin typeface="Segoe UI"/>
              </a:rPr>
              <a:t>AWS, Azure, GC</a:t>
            </a:r>
          </a:p>
        </p:txBody>
      </p:sp>
      <p:sp>
        <p:nvSpPr>
          <p:cNvPr id="22" name="TextBox 21"/>
          <p:cNvSpPr txBox="1"/>
          <p:nvPr/>
        </p:nvSpPr>
        <p:spPr>
          <a:xfrm>
            <a:off x="9646920" y="3035808"/>
            <a:ext cx="1005840" cy="274320"/>
          </a:xfrm>
          <a:prstGeom prst="rect">
            <a:avLst/>
          </a:prstGeom>
          <a:noFill/>
        </p:spPr>
        <p:txBody>
          <a:bodyPr wrap="square">
            <a:spAutoFit/>
          </a:bodyPr>
          <a:lstStyle/>
          <a:p>
            <a:pPr algn="l">
              <a:spcAft>
                <a:spcPts val="400"/>
              </a:spcAft>
            </a:pPr>
            <a:r>
              <a:rPr sz="950" b="1">
                <a:solidFill>
                  <a:srgbClr val="0B142A"/>
                </a:solidFill>
                <a:latin typeface="Segoe UI"/>
              </a:rPr>
              <a:t>$745K</a:t>
            </a:r>
          </a:p>
        </p:txBody>
      </p:sp>
      <p:sp>
        <p:nvSpPr>
          <p:cNvPr id="23" name="TextBox 22"/>
          <p:cNvSpPr txBox="1"/>
          <p:nvPr/>
        </p:nvSpPr>
        <p:spPr>
          <a:xfrm>
            <a:off x="10698480" y="3035808"/>
            <a:ext cx="777240" cy="274320"/>
          </a:xfrm>
          <a:prstGeom prst="rect">
            <a:avLst/>
          </a:prstGeom>
          <a:noFill/>
        </p:spPr>
        <p:txBody>
          <a:bodyPr wrap="square">
            <a:spAutoFit/>
          </a:bodyPr>
          <a:lstStyle/>
          <a:p>
            <a:pPr algn="l">
              <a:spcAft>
                <a:spcPts val="400"/>
              </a:spcAft>
            </a:pPr>
            <a:r>
              <a:rPr sz="950" b="0">
                <a:solidFill>
                  <a:srgbClr val="445066"/>
                </a:solidFill>
                <a:latin typeface="Segoe UI"/>
              </a:rPr>
              <a:t>Low/Low</a:t>
            </a:r>
          </a:p>
        </p:txBody>
      </p:sp>
      <p:sp>
        <p:nvSpPr>
          <p:cNvPr id="24" name="TextBox 23"/>
          <p:cNvSpPr txBox="1"/>
          <p:nvPr/>
        </p:nvSpPr>
        <p:spPr>
          <a:xfrm>
            <a:off x="5577840" y="3364992"/>
            <a:ext cx="548640" cy="274320"/>
          </a:xfrm>
          <a:prstGeom prst="rect">
            <a:avLst/>
          </a:prstGeom>
          <a:noFill/>
        </p:spPr>
        <p:txBody>
          <a:bodyPr wrap="square">
            <a:spAutoFit/>
          </a:bodyPr>
          <a:lstStyle/>
          <a:p>
            <a:pPr algn="l">
              <a:spcAft>
                <a:spcPts val="400"/>
              </a:spcAft>
            </a:pPr>
            <a:r>
              <a:rPr sz="950" b="1">
                <a:solidFill>
                  <a:srgbClr val="0B142A"/>
                </a:solidFill>
                <a:latin typeface="Segoe UI"/>
              </a:rPr>
              <a:t>R5</a:t>
            </a:r>
          </a:p>
        </p:txBody>
      </p:sp>
      <p:sp>
        <p:nvSpPr>
          <p:cNvPr id="25" name="TextBox 24"/>
          <p:cNvSpPr txBox="1"/>
          <p:nvPr/>
        </p:nvSpPr>
        <p:spPr>
          <a:xfrm>
            <a:off x="6172200" y="3364992"/>
            <a:ext cx="2468880" cy="274320"/>
          </a:xfrm>
          <a:prstGeom prst="rect">
            <a:avLst/>
          </a:prstGeom>
          <a:noFill/>
        </p:spPr>
        <p:txBody>
          <a:bodyPr wrap="square">
            <a:spAutoFit/>
          </a:bodyPr>
          <a:lstStyle/>
          <a:p>
            <a:pPr algn="l">
              <a:spcAft>
                <a:spcPts val="400"/>
              </a:spcAft>
            </a:pPr>
            <a:r>
              <a:rPr sz="950" b="0">
                <a:solidFill>
                  <a:srgbClr val="445066"/>
                </a:solidFill>
                <a:latin typeface="Segoe UI"/>
              </a:rPr>
              <a:t>Azure Reservations</a:t>
            </a:r>
          </a:p>
        </p:txBody>
      </p:sp>
      <p:sp>
        <p:nvSpPr>
          <p:cNvPr id="26" name="TextBox 25"/>
          <p:cNvSpPr txBox="1"/>
          <p:nvPr/>
        </p:nvSpPr>
        <p:spPr>
          <a:xfrm>
            <a:off x="8686800" y="3364992"/>
            <a:ext cx="914400" cy="274320"/>
          </a:xfrm>
          <a:prstGeom prst="rect">
            <a:avLst/>
          </a:prstGeom>
          <a:noFill/>
        </p:spPr>
        <p:txBody>
          <a:bodyPr wrap="square">
            <a:spAutoFit/>
          </a:bodyPr>
          <a:lstStyle/>
          <a:p>
            <a:pPr algn="l">
              <a:spcAft>
                <a:spcPts val="400"/>
              </a:spcAft>
            </a:pPr>
            <a:r>
              <a:rPr sz="950" b="0">
                <a:solidFill>
                  <a:srgbClr val="445066"/>
                </a:solidFill>
                <a:latin typeface="Segoe UI"/>
              </a:rPr>
              <a:t>Azure</a:t>
            </a:r>
          </a:p>
        </p:txBody>
      </p:sp>
      <p:sp>
        <p:nvSpPr>
          <p:cNvPr id="27" name="TextBox 26"/>
          <p:cNvSpPr txBox="1"/>
          <p:nvPr/>
        </p:nvSpPr>
        <p:spPr>
          <a:xfrm>
            <a:off x="9646920" y="3364992"/>
            <a:ext cx="1005840" cy="274320"/>
          </a:xfrm>
          <a:prstGeom prst="rect">
            <a:avLst/>
          </a:prstGeom>
          <a:noFill/>
        </p:spPr>
        <p:txBody>
          <a:bodyPr wrap="square">
            <a:spAutoFit/>
          </a:bodyPr>
          <a:lstStyle/>
          <a:p>
            <a:pPr algn="l">
              <a:spcAft>
                <a:spcPts val="400"/>
              </a:spcAft>
            </a:pPr>
            <a:r>
              <a:rPr sz="950" b="1">
                <a:solidFill>
                  <a:srgbClr val="0B142A"/>
                </a:solidFill>
                <a:latin typeface="Segoe UI"/>
              </a:rPr>
              <a:t>$738K</a:t>
            </a:r>
          </a:p>
        </p:txBody>
      </p:sp>
      <p:sp>
        <p:nvSpPr>
          <p:cNvPr id="28" name="TextBox 27"/>
          <p:cNvSpPr txBox="1"/>
          <p:nvPr/>
        </p:nvSpPr>
        <p:spPr>
          <a:xfrm>
            <a:off x="10698480" y="3364992"/>
            <a:ext cx="777240" cy="274320"/>
          </a:xfrm>
          <a:prstGeom prst="rect">
            <a:avLst/>
          </a:prstGeom>
          <a:noFill/>
        </p:spPr>
        <p:txBody>
          <a:bodyPr wrap="square">
            <a:spAutoFit/>
          </a:bodyPr>
          <a:lstStyle/>
          <a:p>
            <a:pPr algn="l">
              <a:spcAft>
                <a:spcPts val="400"/>
              </a:spcAft>
            </a:pPr>
            <a:r>
              <a:rPr sz="950" b="0">
                <a:solidFill>
                  <a:srgbClr val="445066"/>
                </a:solidFill>
                <a:latin typeface="Segoe UI"/>
              </a:rPr>
              <a:t>Low/Medium</a:t>
            </a:r>
          </a:p>
        </p:txBody>
      </p:sp>
      <p:sp>
        <p:nvSpPr>
          <p:cNvPr id="29" name="TextBox 28"/>
          <p:cNvSpPr txBox="1"/>
          <p:nvPr/>
        </p:nvSpPr>
        <p:spPr>
          <a:xfrm>
            <a:off x="5577840" y="3694176"/>
            <a:ext cx="548640" cy="274320"/>
          </a:xfrm>
          <a:prstGeom prst="rect">
            <a:avLst/>
          </a:prstGeom>
          <a:noFill/>
        </p:spPr>
        <p:txBody>
          <a:bodyPr wrap="square">
            <a:spAutoFit/>
          </a:bodyPr>
          <a:lstStyle/>
          <a:p>
            <a:pPr algn="l">
              <a:spcAft>
                <a:spcPts val="400"/>
              </a:spcAft>
            </a:pPr>
            <a:r>
              <a:rPr sz="950" b="1">
                <a:solidFill>
                  <a:srgbClr val="0B142A"/>
                </a:solidFill>
                <a:latin typeface="Segoe UI"/>
              </a:rPr>
              <a:t>R7</a:t>
            </a:r>
          </a:p>
        </p:txBody>
      </p:sp>
      <p:sp>
        <p:nvSpPr>
          <p:cNvPr id="30" name="TextBox 29"/>
          <p:cNvSpPr txBox="1"/>
          <p:nvPr/>
        </p:nvSpPr>
        <p:spPr>
          <a:xfrm>
            <a:off x="6172200" y="3694176"/>
            <a:ext cx="2468880" cy="274320"/>
          </a:xfrm>
          <a:prstGeom prst="rect">
            <a:avLst/>
          </a:prstGeom>
          <a:noFill/>
        </p:spPr>
        <p:txBody>
          <a:bodyPr wrap="square">
            <a:spAutoFit/>
          </a:bodyPr>
          <a:lstStyle/>
          <a:p>
            <a:pPr algn="l">
              <a:spcAft>
                <a:spcPts val="400"/>
              </a:spcAft>
            </a:pPr>
            <a:r>
              <a:rPr sz="950" b="0">
                <a:solidFill>
                  <a:srgbClr val="445066"/>
                </a:solidFill>
                <a:latin typeface="Segoe UI"/>
              </a:rPr>
              <a:t>GCP Flexible (spend-based) CUD</a:t>
            </a:r>
          </a:p>
        </p:txBody>
      </p:sp>
      <p:sp>
        <p:nvSpPr>
          <p:cNvPr id="31" name="TextBox 30"/>
          <p:cNvSpPr txBox="1"/>
          <p:nvPr/>
        </p:nvSpPr>
        <p:spPr>
          <a:xfrm>
            <a:off x="8686800" y="3694176"/>
            <a:ext cx="914400" cy="274320"/>
          </a:xfrm>
          <a:prstGeom prst="rect">
            <a:avLst/>
          </a:prstGeom>
          <a:noFill/>
        </p:spPr>
        <p:txBody>
          <a:bodyPr wrap="square">
            <a:spAutoFit/>
          </a:bodyPr>
          <a:lstStyle/>
          <a:p>
            <a:pPr algn="l">
              <a:spcAft>
                <a:spcPts val="400"/>
              </a:spcAft>
            </a:pPr>
            <a:r>
              <a:rPr sz="950" b="0">
                <a:solidFill>
                  <a:srgbClr val="445066"/>
                </a:solidFill>
                <a:latin typeface="Segoe UI"/>
              </a:rPr>
              <a:t>GCP</a:t>
            </a:r>
          </a:p>
        </p:txBody>
      </p:sp>
      <p:sp>
        <p:nvSpPr>
          <p:cNvPr id="32" name="TextBox 31"/>
          <p:cNvSpPr txBox="1"/>
          <p:nvPr/>
        </p:nvSpPr>
        <p:spPr>
          <a:xfrm>
            <a:off x="9646920" y="3694176"/>
            <a:ext cx="1005840" cy="274320"/>
          </a:xfrm>
          <a:prstGeom prst="rect">
            <a:avLst/>
          </a:prstGeom>
          <a:noFill/>
        </p:spPr>
        <p:txBody>
          <a:bodyPr wrap="square">
            <a:spAutoFit/>
          </a:bodyPr>
          <a:lstStyle/>
          <a:p>
            <a:pPr algn="l">
              <a:spcAft>
                <a:spcPts val="400"/>
              </a:spcAft>
            </a:pPr>
            <a:r>
              <a:rPr sz="950" b="1">
                <a:solidFill>
                  <a:srgbClr val="0B142A"/>
                </a:solidFill>
                <a:latin typeface="Segoe UI"/>
              </a:rPr>
              <a:t>$442K</a:t>
            </a:r>
          </a:p>
        </p:txBody>
      </p:sp>
      <p:sp>
        <p:nvSpPr>
          <p:cNvPr id="33" name="TextBox 32"/>
          <p:cNvSpPr txBox="1"/>
          <p:nvPr/>
        </p:nvSpPr>
        <p:spPr>
          <a:xfrm>
            <a:off x="10698480" y="3694176"/>
            <a:ext cx="777240" cy="274320"/>
          </a:xfrm>
          <a:prstGeom prst="rect">
            <a:avLst/>
          </a:prstGeom>
          <a:noFill/>
        </p:spPr>
        <p:txBody>
          <a:bodyPr wrap="square">
            <a:spAutoFit/>
          </a:bodyPr>
          <a:lstStyle/>
          <a:p>
            <a:pPr algn="l">
              <a:spcAft>
                <a:spcPts val="400"/>
              </a:spcAft>
            </a:pPr>
            <a:r>
              <a:rPr sz="950" b="0">
                <a:solidFill>
                  <a:srgbClr val="445066"/>
                </a:solidFill>
                <a:latin typeface="Segoe UI"/>
              </a:rPr>
              <a:t>Low/Low</a:t>
            </a:r>
          </a:p>
        </p:txBody>
      </p:sp>
      <p:sp>
        <p:nvSpPr>
          <p:cNvPr id="34" name="TextBox 33"/>
          <p:cNvSpPr txBox="1"/>
          <p:nvPr/>
        </p:nvSpPr>
        <p:spPr>
          <a:xfrm>
            <a:off x="5577840" y="4023360"/>
            <a:ext cx="548640" cy="274320"/>
          </a:xfrm>
          <a:prstGeom prst="rect">
            <a:avLst/>
          </a:prstGeom>
          <a:noFill/>
        </p:spPr>
        <p:txBody>
          <a:bodyPr wrap="square">
            <a:spAutoFit/>
          </a:bodyPr>
          <a:lstStyle/>
          <a:p>
            <a:pPr algn="l">
              <a:spcAft>
                <a:spcPts val="400"/>
              </a:spcAft>
            </a:pPr>
            <a:r>
              <a:rPr sz="950" b="1">
                <a:solidFill>
                  <a:srgbClr val="0B142A"/>
                </a:solidFill>
                <a:latin typeface="Segoe UI"/>
              </a:rPr>
              <a:t>R9</a:t>
            </a:r>
          </a:p>
        </p:txBody>
      </p:sp>
      <p:sp>
        <p:nvSpPr>
          <p:cNvPr id="35" name="TextBox 34"/>
          <p:cNvSpPr txBox="1"/>
          <p:nvPr/>
        </p:nvSpPr>
        <p:spPr>
          <a:xfrm>
            <a:off x="6172200" y="4023360"/>
            <a:ext cx="2468880" cy="274320"/>
          </a:xfrm>
          <a:prstGeom prst="rect">
            <a:avLst/>
          </a:prstGeom>
          <a:noFill/>
        </p:spPr>
        <p:txBody>
          <a:bodyPr wrap="square">
            <a:spAutoFit/>
          </a:bodyPr>
          <a:lstStyle/>
          <a:p>
            <a:pPr algn="l">
              <a:spcAft>
                <a:spcPts val="400"/>
              </a:spcAft>
            </a:pPr>
            <a:r>
              <a:rPr sz="950" b="0">
                <a:solidFill>
                  <a:srgbClr val="445066"/>
                </a:solidFill>
                <a:latin typeface="Segoe UI"/>
              </a:rPr>
              <a:t>Spot / Preemptible / Azure Spot</a:t>
            </a:r>
          </a:p>
        </p:txBody>
      </p:sp>
      <p:sp>
        <p:nvSpPr>
          <p:cNvPr id="36" name="TextBox 35"/>
          <p:cNvSpPr txBox="1"/>
          <p:nvPr/>
        </p:nvSpPr>
        <p:spPr>
          <a:xfrm>
            <a:off x="8686800" y="4023360"/>
            <a:ext cx="914400" cy="274320"/>
          </a:xfrm>
          <a:prstGeom prst="rect">
            <a:avLst/>
          </a:prstGeom>
          <a:noFill/>
        </p:spPr>
        <p:txBody>
          <a:bodyPr wrap="square">
            <a:spAutoFit/>
          </a:bodyPr>
          <a:lstStyle/>
          <a:p>
            <a:pPr algn="l">
              <a:spcAft>
                <a:spcPts val="400"/>
              </a:spcAft>
            </a:pPr>
            <a:r>
              <a:rPr sz="950" b="0">
                <a:solidFill>
                  <a:srgbClr val="445066"/>
                </a:solidFill>
                <a:latin typeface="Segoe UI"/>
              </a:rPr>
              <a:t>AWS</a:t>
            </a:r>
          </a:p>
        </p:txBody>
      </p:sp>
      <p:sp>
        <p:nvSpPr>
          <p:cNvPr id="37" name="TextBox 36"/>
          <p:cNvSpPr txBox="1"/>
          <p:nvPr/>
        </p:nvSpPr>
        <p:spPr>
          <a:xfrm>
            <a:off x="9646920" y="4023360"/>
            <a:ext cx="1005840" cy="274320"/>
          </a:xfrm>
          <a:prstGeom prst="rect">
            <a:avLst/>
          </a:prstGeom>
          <a:noFill/>
        </p:spPr>
        <p:txBody>
          <a:bodyPr wrap="square">
            <a:spAutoFit/>
          </a:bodyPr>
          <a:lstStyle/>
          <a:p>
            <a:pPr algn="l">
              <a:spcAft>
                <a:spcPts val="400"/>
              </a:spcAft>
            </a:pPr>
            <a:r>
              <a:rPr sz="950" b="1">
                <a:solidFill>
                  <a:srgbClr val="0B142A"/>
                </a:solidFill>
                <a:latin typeface="Segoe UI"/>
              </a:rPr>
              <a:t>$171K</a:t>
            </a:r>
          </a:p>
        </p:txBody>
      </p:sp>
      <p:sp>
        <p:nvSpPr>
          <p:cNvPr id="38" name="TextBox 37"/>
          <p:cNvSpPr txBox="1"/>
          <p:nvPr/>
        </p:nvSpPr>
        <p:spPr>
          <a:xfrm>
            <a:off x="10698480" y="4023360"/>
            <a:ext cx="777240" cy="274320"/>
          </a:xfrm>
          <a:prstGeom prst="rect">
            <a:avLst/>
          </a:prstGeom>
          <a:noFill/>
        </p:spPr>
        <p:txBody>
          <a:bodyPr wrap="square">
            <a:spAutoFit/>
          </a:bodyPr>
          <a:lstStyle/>
          <a:p>
            <a:pPr algn="l">
              <a:spcAft>
                <a:spcPts val="400"/>
              </a:spcAft>
            </a:pPr>
            <a:r>
              <a:rPr sz="950" b="0">
                <a:solidFill>
                  <a:srgbClr val="445066"/>
                </a:solidFill>
                <a:latin typeface="Segoe UI"/>
              </a:rPr>
              <a:t>Medium/High</a:t>
            </a:r>
          </a:p>
        </p:txBody>
      </p:sp>
      <p:sp>
        <p:nvSpPr>
          <p:cNvPr id="39" name="TextBox 38"/>
          <p:cNvSpPr txBox="1"/>
          <p:nvPr/>
        </p:nvSpPr>
        <p:spPr>
          <a:xfrm>
            <a:off x="5577840" y="4352544"/>
            <a:ext cx="548640" cy="274320"/>
          </a:xfrm>
          <a:prstGeom prst="rect">
            <a:avLst/>
          </a:prstGeom>
          <a:noFill/>
        </p:spPr>
        <p:txBody>
          <a:bodyPr wrap="square">
            <a:spAutoFit/>
          </a:bodyPr>
          <a:lstStyle/>
          <a:p>
            <a:pPr algn="l">
              <a:spcAft>
                <a:spcPts val="400"/>
              </a:spcAft>
            </a:pPr>
            <a:r>
              <a:rPr sz="950" b="1">
                <a:solidFill>
                  <a:srgbClr val="0B142A"/>
                </a:solidFill>
                <a:latin typeface="Segoe UI"/>
              </a:rPr>
              <a:t>R12</a:t>
            </a:r>
          </a:p>
        </p:txBody>
      </p:sp>
      <p:sp>
        <p:nvSpPr>
          <p:cNvPr id="40" name="TextBox 39"/>
          <p:cNvSpPr txBox="1"/>
          <p:nvPr/>
        </p:nvSpPr>
        <p:spPr>
          <a:xfrm>
            <a:off x="6172200" y="4352544"/>
            <a:ext cx="2468880" cy="274320"/>
          </a:xfrm>
          <a:prstGeom prst="rect">
            <a:avLst/>
          </a:prstGeom>
          <a:noFill/>
        </p:spPr>
        <p:txBody>
          <a:bodyPr wrap="square">
            <a:spAutoFit/>
          </a:bodyPr>
          <a:lstStyle/>
          <a:p>
            <a:pPr algn="l">
              <a:spcAft>
                <a:spcPts val="400"/>
              </a:spcAft>
            </a:pPr>
            <a:r>
              <a:rPr sz="950" b="0">
                <a:solidFill>
                  <a:srgbClr val="445066"/>
                </a:solidFill>
                <a:latin typeface="Segoe UI"/>
              </a:rPr>
              <a:t>BYOL / licence mobility</a:t>
            </a:r>
          </a:p>
        </p:txBody>
      </p:sp>
      <p:sp>
        <p:nvSpPr>
          <p:cNvPr id="41" name="TextBox 40"/>
          <p:cNvSpPr txBox="1"/>
          <p:nvPr/>
        </p:nvSpPr>
        <p:spPr>
          <a:xfrm>
            <a:off x="8686800" y="4352544"/>
            <a:ext cx="914400" cy="274320"/>
          </a:xfrm>
          <a:prstGeom prst="rect">
            <a:avLst/>
          </a:prstGeom>
          <a:noFill/>
        </p:spPr>
        <p:txBody>
          <a:bodyPr wrap="square">
            <a:spAutoFit/>
          </a:bodyPr>
          <a:lstStyle/>
          <a:p>
            <a:pPr algn="l">
              <a:spcAft>
                <a:spcPts val="400"/>
              </a:spcAft>
            </a:pPr>
            <a:r>
              <a:rPr sz="950" b="0">
                <a:solidFill>
                  <a:srgbClr val="445066"/>
                </a:solidFill>
                <a:latin typeface="Segoe UI"/>
              </a:rPr>
              <a:t>AWS</a:t>
            </a:r>
          </a:p>
        </p:txBody>
      </p:sp>
      <p:sp>
        <p:nvSpPr>
          <p:cNvPr id="42" name="TextBox 41"/>
          <p:cNvSpPr txBox="1"/>
          <p:nvPr/>
        </p:nvSpPr>
        <p:spPr>
          <a:xfrm>
            <a:off x="9646920" y="4352544"/>
            <a:ext cx="1005840" cy="274320"/>
          </a:xfrm>
          <a:prstGeom prst="rect">
            <a:avLst/>
          </a:prstGeom>
          <a:noFill/>
        </p:spPr>
        <p:txBody>
          <a:bodyPr wrap="square">
            <a:spAutoFit/>
          </a:bodyPr>
          <a:lstStyle/>
          <a:p>
            <a:pPr algn="l">
              <a:spcAft>
                <a:spcPts val="400"/>
              </a:spcAft>
            </a:pPr>
            <a:r>
              <a:rPr sz="950" b="1">
                <a:solidFill>
                  <a:srgbClr val="0B142A"/>
                </a:solidFill>
                <a:latin typeface="Segoe UI"/>
              </a:rPr>
              <a:t>$168K</a:t>
            </a:r>
          </a:p>
        </p:txBody>
      </p:sp>
      <p:sp>
        <p:nvSpPr>
          <p:cNvPr id="43" name="TextBox 42"/>
          <p:cNvSpPr txBox="1"/>
          <p:nvPr/>
        </p:nvSpPr>
        <p:spPr>
          <a:xfrm>
            <a:off x="10698480" y="4352544"/>
            <a:ext cx="777240" cy="274320"/>
          </a:xfrm>
          <a:prstGeom prst="rect">
            <a:avLst/>
          </a:prstGeom>
          <a:noFill/>
        </p:spPr>
        <p:txBody>
          <a:bodyPr wrap="square">
            <a:spAutoFit/>
          </a:bodyPr>
          <a:lstStyle/>
          <a:p>
            <a:pPr algn="l">
              <a:spcAft>
                <a:spcPts val="400"/>
              </a:spcAft>
            </a:pPr>
            <a:r>
              <a:rPr sz="950" b="0">
                <a:solidFill>
                  <a:srgbClr val="445066"/>
                </a:solidFill>
                <a:latin typeface="Segoe UI"/>
              </a:rPr>
              <a:t>Medium/Medium</a:t>
            </a:r>
          </a:p>
        </p:txBody>
      </p:sp>
      <p:sp>
        <p:nvSpPr>
          <p:cNvPr id="44" name="TextBox 43"/>
          <p:cNvSpPr txBox="1"/>
          <p:nvPr/>
        </p:nvSpPr>
        <p:spPr>
          <a:xfrm>
            <a:off x="5577840" y="4681728"/>
            <a:ext cx="548640" cy="274320"/>
          </a:xfrm>
          <a:prstGeom prst="rect">
            <a:avLst/>
          </a:prstGeom>
          <a:noFill/>
        </p:spPr>
        <p:txBody>
          <a:bodyPr wrap="square">
            <a:spAutoFit/>
          </a:bodyPr>
          <a:lstStyle/>
          <a:p>
            <a:pPr algn="l">
              <a:spcAft>
                <a:spcPts val="400"/>
              </a:spcAft>
            </a:pPr>
            <a:r>
              <a:rPr sz="950" b="1">
                <a:solidFill>
                  <a:srgbClr val="0B142A"/>
                </a:solidFill>
                <a:latin typeface="Segoe UI"/>
              </a:rPr>
              <a:t>U17</a:t>
            </a:r>
          </a:p>
        </p:txBody>
      </p:sp>
      <p:sp>
        <p:nvSpPr>
          <p:cNvPr id="45" name="TextBox 44"/>
          <p:cNvSpPr txBox="1"/>
          <p:nvPr/>
        </p:nvSpPr>
        <p:spPr>
          <a:xfrm>
            <a:off x="6172200" y="4681728"/>
            <a:ext cx="2468880" cy="274320"/>
          </a:xfrm>
          <a:prstGeom prst="rect">
            <a:avLst/>
          </a:prstGeom>
          <a:noFill/>
        </p:spPr>
        <p:txBody>
          <a:bodyPr wrap="square">
            <a:spAutoFit/>
          </a:bodyPr>
          <a:lstStyle/>
          <a:p>
            <a:pPr algn="l">
              <a:spcAft>
                <a:spcPts val="400"/>
              </a:spcAft>
            </a:pPr>
            <a:r>
              <a:rPr sz="950" b="0">
                <a:solidFill>
                  <a:srgbClr val="445066"/>
                </a:solidFill>
                <a:latin typeface="Segoe UI"/>
              </a:rPr>
              <a:t>Previous-generation instance fam</a:t>
            </a:r>
          </a:p>
        </p:txBody>
      </p:sp>
      <p:sp>
        <p:nvSpPr>
          <p:cNvPr id="46" name="TextBox 45"/>
          <p:cNvSpPr txBox="1"/>
          <p:nvPr/>
        </p:nvSpPr>
        <p:spPr>
          <a:xfrm>
            <a:off x="8686800" y="4681728"/>
            <a:ext cx="914400" cy="274320"/>
          </a:xfrm>
          <a:prstGeom prst="rect">
            <a:avLst/>
          </a:prstGeom>
          <a:noFill/>
        </p:spPr>
        <p:txBody>
          <a:bodyPr wrap="square">
            <a:spAutoFit/>
          </a:bodyPr>
          <a:lstStyle/>
          <a:p>
            <a:pPr algn="l">
              <a:spcAft>
                <a:spcPts val="400"/>
              </a:spcAft>
            </a:pPr>
            <a:r>
              <a:rPr sz="950" b="0">
                <a:solidFill>
                  <a:srgbClr val="445066"/>
                </a:solidFill>
                <a:latin typeface="Segoe UI"/>
              </a:rPr>
              <a:t>AWS, Azure, GC</a:t>
            </a:r>
          </a:p>
        </p:txBody>
      </p:sp>
      <p:sp>
        <p:nvSpPr>
          <p:cNvPr id="47" name="TextBox 46"/>
          <p:cNvSpPr txBox="1"/>
          <p:nvPr/>
        </p:nvSpPr>
        <p:spPr>
          <a:xfrm>
            <a:off x="9646920" y="4681728"/>
            <a:ext cx="1005840" cy="274320"/>
          </a:xfrm>
          <a:prstGeom prst="rect">
            <a:avLst/>
          </a:prstGeom>
          <a:noFill/>
        </p:spPr>
        <p:txBody>
          <a:bodyPr wrap="square">
            <a:spAutoFit/>
          </a:bodyPr>
          <a:lstStyle/>
          <a:p>
            <a:pPr algn="l">
              <a:spcAft>
                <a:spcPts val="400"/>
              </a:spcAft>
            </a:pPr>
            <a:r>
              <a:rPr sz="950" b="1">
                <a:solidFill>
                  <a:srgbClr val="0B142A"/>
                </a:solidFill>
                <a:latin typeface="Segoe UI"/>
              </a:rPr>
              <a:t>$151K</a:t>
            </a:r>
          </a:p>
        </p:txBody>
      </p:sp>
      <p:sp>
        <p:nvSpPr>
          <p:cNvPr id="48" name="TextBox 47"/>
          <p:cNvSpPr txBox="1"/>
          <p:nvPr/>
        </p:nvSpPr>
        <p:spPr>
          <a:xfrm>
            <a:off x="10698480" y="4681728"/>
            <a:ext cx="777240" cy="274320"/>
          </a:xfrm>
          <a:prstGeom prst="rect">
            <a:avLst/>
          </a:prstGeom>
          <a:noFill/>
        </p:spPr>
        <p:txBody>
          <a:bodyPr wrap="square">
            <a:spAutoFit/>
          </a:bodyPr>
          <a:lstStyle/>
          <a:p>
            <a:pPr algn="l">
              <a:spcAft>
                <a:spcPts val="400"/>
              </a:spcAft>
            </a:pPr>
            <a:r>
              <a:rPr sz="950" b="0">
                <a:solidFill>
                  <a:srgbClr val="445066"/>
                </a:solidFill>
                <a:latin typeface="Segoe UI"/>
              </a:rPr>
              <a:t>Low/Low</a:t>
            </a:r>
          </a:p>
        </p:txBody>
      </p:sp>
      <p:sp>
        <p:nvSpPr>
          <p:cNvPr id="49" name="TextBox 48"/>
          <p:cNvSpPr txBox="1"/>
          <p:nvPr/>
        </p:nvSpPr>
        <p:spPr>
          <a:xfrm>
            <a:off x="5577840" y="5010912"/>
            <a:ext cx="548640" cy="274320"/>
          </a:xfrm>
          <a:prstGeom prst="rect">
            <a:avLst/>
          </a:prstGeom>
          <a:noFill/>
        </p:spPr>
        <p:txBody>
          <a:bodyPr wrap="square">
            <a:spAutoFit/>
          </a:bodyPr>
          <a:lstStyle/>
          <a:p>
            <a:pPr algn="l">
              <a:spcAft>
                <a:spcPts val="400"/>
              </a:spcAft>
            </a:pPr>
            <a:r>
              <a:rPr sz="950" b="1">
                <a:solidFill>
                  <a:srgbClr val="0B142A"/>
                </a:solidFill>
                <a:latin typeface="Segoe UI"/>
              </a:rPr>
              <a:t>U4</a:t>
            </a:r>
          </a:p>
        </p:txBody>
      </p:sp>
      <p:sp>
        <p:nvSpPr>
          <p:cNvPr id="50" name="TextBox 49"/>
          <p:cNvSpPr txBox="1"/>
          <p:nvPr/>
        </p:nvSpPr>
        <p:spPr>
          <a:xfrm>
            <a:off x="6172200" y="5010912"/>
            <a:ext cx="2468880" cy="274320"/>
          </a:xfrm>
          <a:prstGeom prst="rect">
            <a:avLst/>
          </a:prstGeom>
          <a:noFill/>
        </p:spPr>
        <p:txBody>
          <a:bodyPr wrap="square">
            <a:spAutoFit/>
          </a:bodyPr>
          <a:lstStyle/>
          <a:p>
            <a:pPr algn="l">
              <a:spcAft>
                <a:spcPts val="400"/>
              </a:spcAft>
            </a:pPr>
            <a:r>
              <a:rPr sz="950" b="0">
                <a:solidFill>
                  <a:srgbClr val="445066"/>
                </a:solidFill>
                <a:latin typeface="Segoe UI"/>
              </a:rPr>
              <a:t>Unattached EBS / managed disks</a:t>
            </a:r>
          </a:p>
        </p:txBody>
      </p:sp>
      <p:sp>
        <p:nvSpPr>
          <p:cNvPr id="51" name="TextBox 50"/>
          <p:cNvSpPr txBox="1"/>
          <p:nvPr/>
        </p:nvSpPr>
        <p:spPr>
          <a:xfrm>
            <a:off x="8686800" y="5010912"/>
            <a:ext cx="914400" cy="274320"/>
          </a:xfrm>
          <a:prstGeom prst="rect">
            <a:avLst/>
          </a:prstGeom>
          <a:noFill/>
        </p:spPr>
        <p:txBody>
          <a:bodyPr wrap="square">
            <a:spAutoFit/>
          </a:bodyPr>
          <a:lstStyle/>
          <a:p>
            <a:pPr algn="l">
              <a:spcAft>
                <a:spcPts val="400"/>
              </a:spcAft>
            </a:pPr>
            <a:r>
              <a:rPr sz="950" b="0">
                <a:solidFill>
                  <a:srgbClr val="445066"/>
                </a:solidFill>
                <a:latin typeface="Segoe UI"/>
              </a:rPr>
              <a:t>AWS, Azure, GC</a:t>
            </a:r>
          </a:p>
        </p:txBody>
      </p:sp>
      <p:sp>
        <p:nvSpPr>
          <p:cNvPr id="52" name="TextBox 51"/>
          <p:cNvSpPr txBox="1"/>
          <p:nvPr/>
        </p:nvSpPr>
        <p:spPr>
          <a:xfrm>
            <a:off x="9646920" y="5010912"/>
            <a:ext cx="1005840" cy="274320"/>
          </a:xfrm>
          <a:prstGeom prst="rect">
            <a:avLst/>
          </a:prstGeom>
          <a:noFill/>
        </p:spPr>
        <p:txBody>
          <a:bodyPr wrap="square">
            <a:spAutoFit/>
          </a:bodyPr>
          <a:lstStyle/>
          <a:p>
            <a:pPr algn="l">
              <a:spcAft>
                <a:spcPts val="400"/>
              </a:spcAft>
            </a:pPr>
            <a:r>
              <a:rPr sz="950" b="1">
                <a:solidFill>
                  <a:srgbClr val="0B142A"/>
                </a:solidFill>
                <a:latin typeface="Segoe UI"/>
              </a:rPr>
              <a:t>$111K</a:t>
            </a:r>
          </a:p>
        </p:txBody>
      </p:sp>
      <p:sp>
        <p:nvSpPr>
          <p:cNvPr id="53" name="TextBox 52"/>
          <p:cNvSpPr txBox="1"/>
          <p:nvPr/>
        </p:nvSpPr>
        <p:spPr>
          <a:xfrm>
            <a:off x="10698480" y="5010912"/>
            <a:ext cx="777240" cy="274320"/>
          </a:xfrm>
          <a:prstGeom prst="rect">
            <a:avLst/>
          </a:prstGeom>
          <a:noFill/>
        </p:spPr>
        <p:txBody>
          <a:bodyPr wrap="square">
            <a:spAutoFit/>
          </a:bodyPr>
          <a:lstStyle/>
          <a:p>
            <a:pPr algn="l">
              <a:spcAft>
                <a:spcPts val="400"/>
              </a:spcAft>
            </a:pPr>
            <a:r>
              <a:rPr sz="950" b="0">
                <a:solidFill>
                  <a:srgbClr val="445066"/>
                </a:solidFill>
                <a:latin typeface="Segoe UI"/>
              </a:rPr>
              <a:t>Low/Low</a:t>
            </a:r>
          </a:p>
        </p:txBody>
      </p:sp>
      <p:sp>
        <p:nvSpPr>
          <p:cNvPr id="54" name="TextBox 53"/>
          <p:cNvSpPr txBox="1"/>
          <p:nvPr/>
        </p:nvSpPr>
        <p:spPr>
          <a:xfrm>
            <a:off x="640080" y="5440680"/>
            <a:ext cx="10881360" cy="731520"/>
          </a:xfrm>
          <a:prstGeom prst="rect">
            <a:avLst/>
          </a:prstGeom>
          <a:noFill/>
        </p:spPr>
        <p:txBody>
          <a:bodyPr wrap="square">
            <a:spAutoFit/>
          </a:bodyPr>
          <a:lstStyle/>
          <a:p>
            <a:pPr algn="l">
              <a:spcAft>
                <a:spcPts val="400"/>
              </a:spcAft>
            </a:pPr>
            <a:r>
              <a:rPr sz="1100" b="0">
                <a:solidFill>
                  <a:srgbClr val="445066"/>
                </a:solidFill>
                <a:latin typeface="Segoe UI"/>
              </a:rPr>
              <a:t>Executing the rate levers alone would move Effective Savings Rate from 21.6% to 39.6% (+17.9 points). Savings percentages in the catalog are vendor 'up-to' figures — ceilings, not guarantees. Where a detector cannot see what it needs (access patterns, CPU utilisation) it lowers its confidence and says so.</a:t>
            </a:r>
          </a:p>
        </p:txBody>
      </p:sp>
      <p:sp>
        <p:nvSpPr>
          <p:cNvPr id="55" name="TextBox 54"/>
          <p:cNvSpPr txBox="1"/>
          <p:nvPr/>
        </p:nvSpPr>
        <p:spPr>
          <a:xfrm>
            <a:off x="640080" y="6355080"/>
            <a:ext cx="8229600" cy="274320"/>
          </a:xfrm>
          <a:prstGeom prst="rect">
            <a:avLst/>
          </a:prstGeom>
          <a:noFill/>
        </p:spPr>
        <p:txBody>
          <a:bodyPr wrap="square">
            <a:spAutoFit/>
          </a:bodyPr>
          <a:lstStyle/>
          <a:p>
            <a:pPr algn="l">
              <a:spcAft>
                <a:spcPts val="400"/>
              </a:spcAft>
            </a:pPr>
            <a:r>
              <a:rPr sz="850" b="0">
                <a:solidFill>
                  <a:srgbClr val="7A8599"/>
                </a:solidFill>
                <a:latin typeface="Segoe UI"/>
              </a:rPr>
              <a:t>Figures computed from a synthetic 24-month utility estate shipped with the platform. No customer data.</a:t>
            </a:r>
          </a:p>
        </p:txBody>
      </p:sp>
      <p:sp>
        <p:nvSpPr>
          <p:cNvPr id="56" name="TextBox 55"/>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ANOMALY DETECTION</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800" b="1">
                <a:solidFill>
                  <a:srgbClr val="0B142A"/>
                </a:solidFill>
                <a:latin typeface="Segoe UI"/>
              </a:rPr>
              <a:t>Catching the runaway workload, not the weekend</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STL decomposition, then a median-absolute-deviation test on the residual</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57400"/>
            <a:ext cx="10881360" cy="347472"/>
          </a:xfrm>
          <a:prstGeom prst="roundRect">
            <a:avLst>
              <a:gd name="adj" fmla="val 6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093976"/>
            <a:ext cx="1463040" cy="274320"/>
          </a:xfrm>
          <a:prstGeom prst="rect">
            <a:avLst/>
          </a:prstGeom>
          <a:noFill/>
        </p:spPr>
        <p:txBody>
          <a:bodyPr wrap="square">
            <a:spAutoFit/>
          </a:bodyPr>
          <a:lstStyle/>
          <a:p>
            <a:pPr algn="l">
              <a:spcAft>
                <a:spcPts val="400"/>
              </a:spcAft>
            </a:pPr>
            <a:r>
              <a:rPr sz="1000" b="1">
                <a:solidFill>
                  <a:srgbClr val="7A8599"/>
                </a:solidFill>
                <a:latin typeface="Segoe UI"/>
              </a:rPr>
              <a:t>Date</a:t>
            </a:r>
          </a:p>
        </p:txBody>
      </p:sp>
      <p:sp>
        <p:nvSpPr>
          <p:cNvPr id="8" name="TextBox 7"/>
          <p:cNvSpPr txBox="1"/>
          <p:nvPr/>
        </p:nvSpPr>
        <p:spPr>
          <a:xfrm>
            <a:off x="2377439" y="2093976"/>
            <a:ext cx="2743200" cy="274320"/>
          </a:xfrm>
          <a:prstGeom prst="rect">
            <a:avLst/>
          </a:prstGeom>
          <a:noFill/>
        </p:spPr>
        <p:txBody>
          <a:bodyPr wrap="square">
            <a:spAutoFit/>
          </a:bodyPr>
          <a:lstStyle/>
          <a:p>
            <a:pPr algn="l">
              <a:spcAft>
                <a:spcPts val="400"/>
              </a:spcAft>
            </a:pPr>
            <a:r>
              <a:rPr sz="1000" b="1">
                <a:solidFill>
                  <a:srgbClr val="7A8599"/>
                </a:solidFill>
                <a:latin typeface="Segoe UI"/>
              </a:rPr>
              <a:t>Service category</a:t>
            </a:r>
          </a:p>
        </p:txBody>
      </p:sp>
      <p:sp>
        <p:nvSpPr>
          <p:cNvPr id="9" name="TextBox 8"/>
          <p:cNvSpPr txBox="1"/>
          <p:nvPr/>
        </p:nvSpPr>
        <p:spPr>
          <a:xfrm>
            <a:off x="5303520" y="2093976"/>
            <a:ext cx="1280160" cy="274320"/>
          </a:xfrm>
          <a:prstGeom prst="rect">
            <a:avLst/>
          </a:prstGeom>
          <a:noFill/>
        </p:spPr>
        <p:txBody>
          <a:bodyPr wrap="square">
            <a:spAutoFit/>
          </a:bodyPr>
          <a:lstStyle/>
          <a:p>
            <a:pPr algn="l">
              <a:spcAft>
                <a:spcPts val="400"/>
              </a:spcAft>
            </a:pPr>
            <a:r>
              <a:rPr sz="1000" b="1">
                <a:solidFill>
                  <a:srgbClr val="7A8599"/>
                </a:solidFill>
                <a:latin typeface="Segoe UI"/>
              </a:rPr>
              <a:t>Actual</a:t>
            </a:r>
          </a:p>
        </p:txBody>
      </p:sp>
      <p:sp>
        <p:nvSpPr>
          <p:cNvPr id="10" name="TextBox 9"/>
          <p:cNvSpPr txBox="1"/>
          <p:nvPr/>
        </p:nvSpPr>
        <p:spPr>
          <a:xfrm>
            <a:off x="6766560" y="2093976"/>
            <a:ext cx="1280160" cy="274320"/>
          </a:xfrm>
          <a:prstGeom prst="rect">
            <a:avLst/>
          </a:prstGeom>
          <a:noFill/>
        </p:spPr>
        <p:txBody>
          <a:bodyPr wrap="square">
            <a:spAutoFit/>
          </a:bodyPr>
          <a:lstStyle/>
          <a:p>
            <a:pPr algn="l">
              <a:spcAft>
                <a:spcPts val="400"/>
              </a:spcAft>
            </a:pPr>
            <a:r>
              <a:rPr sz="1000" b="1">
                <a:solidFill>
                  <a:srgbClr val="7A8599"/>
                </a:solidFill>
                <a:latin typeface="Segoe UI"/>
              </a:rPr>
              <a:t>Expected</a:t>
            </a:r>
          </a:p>
        </p:txBody>
      </p:sp>
      <p:sp>
        <p:nvSpPr>
          <p:cNvPr id="11" name="TextBox 10"/>
          <p:cNvSpPr txBox="1"/>
          <p:nvPr/>
        </p:nvSpPr>
        <p:spPr>
          <a:xfrm>
            <a:off x="8321040" y="2093976"/>
            <a:ext cx="1463040" cy="274320"/>
          </a:xfrm>
          <a:prstGeom prst="rect">
            <a:avLst/>
          </a:prstGeom>
          <a:noFill/>
        </p:spPr>
        <p:txBody>
          <a:bodyPr wrap="square">
            <a:spAutoFit/>
          </a:bodyPr>
          <a:lstStyle/>
          <a:p>
            <a:pPr algn="l">
              <a:spcAft>
                <a:spcPts val="400"/>
              </a:spcAft>
            </a:pPr>
            <a:r>
              <a:rPr sz="1000" b="1">
                <a:solidFill>
                  <a:srgbClr val="7A8599"/>
                </a:solidFill>
                <a:latin typeface="Segoe UI"/>
              </a:rPr>
              <a:t>Deviation</a:t>
            </a:r>
          </a:p>
        </p:txBody>
      </p:sp>
      <p:sp>
        <p:nvSpPr>
          <p:cNvPr id="12" name="TextBox 11"/>
          <p:cNvSpPr txBox="1"/>
          <p:nvPr/>
        </p:nvSpPr>
        <p:spPr>
          <a:xfrm>
            <a:off x="9966959" y="2093976"/>
            <a:ext cx="1463040" cy="274320"/>
          </a:xfrm>
          <a:prstGeom prst="rect">
            <a:avLst/>
          </a:prstGeom>
          <a:noFill/>
        </p:spPr>
        <p:txBody>
          <a:bodyPr wrap="square">
            <a:spAutoFit/>
          </a:bodyPr>
          <a:lstStyle/>
          <a:p>
            <a:pPr algn="l">
              <a:spcAft>
                <a:spcPts val="400"/>
              </a:spcAft>
            </a:pPr>
            <a:r>
              <a:rPr sz="1000" b="1">
                <a:solidFill>
                  <a:srgbClr val="7A8599"/>
                </a:solidFill>
                <a:latin typeface="Segoe UI"/>
              </a:rPr>
              <a:t>Severity</a:t>
            </a:r>
          </a:p>
        </p:txBody>
      </p:sp>
      <p:sp>
        <p:nvSpPr>
          <p:cNvPr id="13" name="TextBox 12"/>
          <p:cNvSpPr txBox="1"/>
          <p:nvPr/>
        </p:nvSpPr>
        <p:spPr>
          <a:xfrm>
            <a:off x="777240" y="2478024"/>
            <a:ext cx="1463040" cy="292608"/>
          </a:xfrm>
          <a:prstGeom prst="rect">
            <a:avLst/>
          </a:prstGeom>
          <a:noFill/>
        </p:spPr>
        <p:txBody>
          <a:bodyPr wrap="square">
            <a:spAutoFit/>
          </a:bodyPr>
          <a:lstStyle/>
          <a:p>
            <a:pPr algn="l">
              <a:spcAft>
                <a:spcPts val="400"/>
              </a:spcAft>
            </a:pPr>
            <a:r>
              <a:rPr sz="1050" b="0">
                <a:solidFill>
                  <a:srgbClr val="445066"/>
                </a:solidFill>
                <a:latin typeface="Segoe UI"/>
              </a:rPr>
              <a:t>20 May 2026</a:t>
            </a:r>
          </a:p>
        </p:txBody>
      </p:sp>
      <p:sp>
        <p:nvSpPr>
          <p:cNvPr id="14" name="TextBox 13"/>
          <p:cNvSpPr txBox="1"/>
          <p:nvPr/>
        </p:nvSpPr>
        <p:spPr>
          <a:xfrm>
            <a:off x="2377439" y="2478024"/>
            <a:ext cx="2743200" cy="292608"/>
          </a:xfrm>
          <a:prstGeom prst="rect">
            <a:avLst/>
          </a:prstGeom>
          <a:noFill/>
        </p:spPr>
        <p:txBody>
          <a:bodyPr wrap="square">
            <a:spAutoFit/>
          </a:bodyPr>
          <a:lstStyle/>
          <a:p>
            <a:pPr algn="l">
              <a:spcAft>
                <a:spcPts val="400"/>
              </a:spcAft>
            </a:pPr>
            <a:r>
              <a:rPr sz="1050" b="0">
                <a:solidFill>
                  <a:srgbClr val="0B142A"/>
                </a:solidFill>
                <a:latin typeface="Segoe UI"/>
              </a:rPr>
              <a:t>Analytics</a:t>
            </a:r>
          </a:p>
        </p:txBody>
      </p:sp>
      <p:sp>
        <p:nvSpPr>
          <p:cNvPr id="15" name="TextBox 14"/>
          <p:cNvSpPr txBox="1"/>
          <p:nvPr/>
        </p:nvSpPr>
        <p:spPr>
          <a:xfrm>
            <a:off x="5303520" y="2478024"/>
            <a:ext cx="1280160" cy="292608"/>
          </a:xfrm>
          <a:prstGeom prst="rect">
            <a:avLst/>
          </a:prstGeom>
          <a:noFill/>
        </p:spPr>
        <p:txBody>
          <a:bodyPr wrap="square">
            <a:spAutoFit/>
          </a:bodyPr>
          <a:lstStyle/>
          <a:p>
            <a:pPr algn="l">
              <a:spcAft>
                <a:spcPts val="400"/>
              </a:spcAft>
            </a:pPr>
            <a:r>
              <a:rPr sz="1050" b="0">
                <a:solidFill>
                  <a:srgbClr val="445066"/>
                </a:solidFill>
                <a:latin typeface="Segoe UI"/>
              </a:rPr>
              <a:t>$23K</a:t>
            </a:r>
          </a:p>
        </p:txBody>
      </p:sp>
      <p:sp>
        <p:nvSpPr>
          <p:cNvPr id="16" name="TextBox 15"/>
          <p:cNvSpPr txBox="1"/>
          <p:nvPr/>
        </p:nvSpPr>
        <p:spPr>
          <a:xfrm>
            <a:off x="6766560" y="2478024"/>
            <a:ext cx="1280160" cy="292608"/>
          </a:xfrm>
          <a:prstGeom prst="rect">
            <a:avLst/>
          </a:prstGeom>
          <a:noFill/>
        </p:spPr>
        <p:txBody>
          <a:bodyPr wrap="square">
            <a:spAutoFit/>
          </a:bodyPr>
          <a:lstStyle/>
          <a:p>
            <a:pPr algn="l">
              <a:spcAft>
                <a:spcPts val="400"/>
              </a:spcAft>
            </a:pPr>
            <a:r>
              <a:rPr sz="1050" b="0">
                <a:solidFill>
                  <a:srgbClr val="7A8599"/>
                </a:solidFill>
                <a:latin typeface="Segoe UI"/>
              </a:rPr>
              <a:t>$4K</a:t>
            </a:r>
          </a:p>
        </p:txBody>
      </p:sp>
      <p:sp>
        <p:nvSpPr>
          <p:cNvPr id="17" name="TextBox 16"/>
          <p:cNvSpPr txBox="1"/>
          <p:nvPr/>
        </p:nvSpPr>
        <p:spPr>
          <a:xfrm>
            <a:off x="8321040" y="2478024"/>
            <a:ext cx="1463040" cy="292608"/>
          </a:xfrm>
          <a:prstGeom prst="rect">
            <a:avLst/>
          </a:prstGeom>
          <a:noFill/>
        </p:spPr>
        <p:txBody>
          <a:bodyPr wrap="square">
            <a:spAutoFit/>
          </a:bodyPr>
          <a:lstStyle/>
          <a:p>
            <a:pPr algn="l">
              <a:spcAft>
                <a:spcPts val="400"/>
              </a:spcAft>
            </a:pPr>
            <a:r>
              <a:rPr sz="1050" b="0">
                <a:solidFill>
                  <a:srgbClr val="C23333"/>
                </a:solidFill>
                <a:latin typeface="Segoe UI"/>
              </a:rPr>
              <a:t>+426%</a:t>
            </a:r>
          </a:p>
        </p:txBody>
      </p:sp>
      <p:sp>
        <p:nvSpPr>
          <p:cNvPr id="18" name="TextBox 17"/>
          <p:cNvSpPr txBox="1"/>
          <p:nvPr/>
        </p:nvSpPr>
        <p:spPr>
          <a:xfrm>
            <a:off x="9966959" y="2478024"/>
            <a:ext cx="1463040" cy="292608"/>
          </a:xfrm>
          <a:prstGeom prst="rect">
            <a:avLst/>
          </a:prstGeom>
          <a:noFill/>
        </p:spPr>
        <p:txBody>
          <a:bodyPr wrap="square">
            <a:spAutoFit/>
          </a:bodyPr>
          <a:lstStyle/>
          <a:p>
            <a:pPr algn="l">
              <a:spcAft>
                <a:spcPts val="400"/>
              </a:spcAft>
            </a:pPr>
            <a:r>
              <a:rPr sz="1050" b="0">
                <a:solidFill>
                  <a:srgbClr val="C23333"/>
                </a:solidFill>
                <a:latin typeface="Segoe UI"/>
              </a:rPr>
              <a:t>Critical</a:t>
            </a:r>
          </a:p>
        </p:txBody>
      </p:sp>
      <p:sp>
        <p:nvSpPr>
          <p:cNvPr id="19" name="TextBox 18"/>
          <p:cNvSpPr txBox="1"/>
          <p:nvPr/>
        </p:nvSpPr>
        <p:spPr>
          <a:xfrm>
            <a:off x="777240" y="2862072"/>
            <a:ext cx="1463040" cy="292608"/>
          </a:xfrm>
          <a:prstGeom prst="rect">
            <a:avLst/>
          </a:prstGeom>
          <a:noFill/>
        </p:spPr>
        <p:txBody>
          <a:bodyPr wrap="square">
            <a:spAutoFit/>
          </a:bodyPr>
          <a:lstStyle/>
          <a:p>
            <a:pPr algn="l">
              <a:spcAft>
                <a:spcPts val="400"/>
              </a:spcAft>
            </a:pPr>
            <a:r>
              <a:rPr sz="1050" b="0">
                <a:solidFill>
                  <a:srgbClr val="445066"/>
                </a:solidFill>
                <a:latin typeface="Segoe UI"/>
              </a:rPr>
              <a:t>13 Jun 2026</a:t>
            </a:r>
          </a:p>
        </p:txBody>
      </p:sp>
      <p:sp>
        <p:nvSpPr>
          <p:cNvPr id="20" name="TextBox 19"/>
          <p:cNvSpPr txBox="1"/>
          <p:nvPr/>
        </p:nvSpPr>
        <p:spPr>
          <a:xfrm>
            <a:off x="2377439" y="2862072"/>
            <a:ext cx="2743200" cy="292608"/>
          </a:xfrm>
          <a:prstGeom prst="rect">
            <a:avLst/>
          </a:prstGeom>
          <a:noFill/>
        </p:spPr>
        <p:txBody>
          <a:bodyPr wrap="square">
            <a:spAutoFit/>
          </a:bodyPr>
          <a:lstStyle/>
          <a:p>
            <a:pPr algn="l">
              <a:spcAft>
                <a:spcPts val="400"/>
              </a:spcAft>
            </a:pPr>
            <a:r>
              <a:rPr sz="1050" b="0">
                <a:solidFill>
                  <a:srgbClr val="0B142A"/>
                </a:solidFill>
                <a:latin typeface="Segoe UI"/>
              </a:rPr>
              <a:t>Networking</a:t>
            </a:r>
          </a:p>
        </p:txBody>
      </p:sp>
      <p:sp>
        <p:nvSpPr>
          <p:cNvPr id="21" name="TextBox 20"/>
          <p:cNvSpPr txBox="1"/>
          <p:nvPr/>
        </p:nvSpPr>
        <p:spPr>
          <a:xfrm>
            <a:off x="5303520" y="2862072"/>
            <a:ext cx="1280160" cy="292608"/>
          </a:xfrm>
          <a:prstGeom prst="rect">
            <a:avLst/>
          </a:prstGeom>
          <a:noFill/>
        </p:spPr>
        <p:txBody>
          <a:bodyPr wrap="square">
            <a:spAutoFit/>
          </a:bodyPr>
          <a:lstStyle/>
          <a:p>
            <a:pPr algn="l">
              <a:spcAft>
                <a:spcPts val="400"/>
              </a:spcAft>
            </a:pPr>
            <a:r>
              <a:rPr sz="1050" b="0">
                <a:solidFill>
                  <a:srgbClr val="445066"/>
                </a:solidFill>
                <a:latin typeface="Segoe UI"/>
              </a:rPr>
              <a:t>$11K</a:t>
            </a:r>
          </a:p>
        </p:txBody>
      </p:sp>
      <p:sp>
        <p:nvSpPr>
          <p:cNvPr id="22" name="TextBox 21"/>
          <p:cNvSpPr txBox="1"/>
          <p:nvPr/>
        </p:nvSpPr>
        <p:spPr>
          <a:xfrm>
            <a:off x="6766560" y="2862072"/>
            <a:ext cx="1280160" cy="292608"/>
          </a:xfrm>
          <a:prstGeom prst="rect">
            <a:avLst/>
          </a:prstGeom>
          <a:noFill/>
        </p:spPr>
        <p:txBody>
          <a:bodyPr wrap="square">
            <a:spAutoFit/>
          </a:bodyPr>
          <a:lstStyle/>
          <a:p>
            <a:pPr algn="l">
              <a:spcAft>
                <a:spcPts val="400"/>
              </a:spcAft>
            </a:pPr>
            <a:r>
              <a:rPr sz="1050" b="0">
                <a:solidFill>
                  <a:srgbClr val="7A8599"/>
                </a:solidFill>
                <a:latin typeface="Segoe UI"/>
              </a:rPr>
              <a:t>$2K</a:t>
            </a:r>
          </a:p>
        </p:txBody>
      </p:sp>
      <p:sp>
        <p:nvSpPr>
          <p:cNvPr id="23" name="TextBox 22"/>
          <p:cNvSpPr txBox="1"/>
          <p:nvPr/>
        </p:nvSpPr>
        <p:spPr>
          <a:xfrm>
            <a:off x="8321040" y="2862072"/>
            <a:ext cx="1463040" cy="292608"/>
          </a:xfrm>
          <a:prstGeom prst="rect">
            <a:avLst/>
          </a:prstGeom>
          <a:noFill/>
        </p:spPr>
        <p:txBody>
          <a:bodyPr wrap="square">
            <a:spAutoFit/>
          </a:bodyPr>
          <a:lstStyle/>
          <a:p>
            <a:pPr algn="l">
              <a:spcAft>
                <a:spcPts val="400"/>
              </a:spcAft>
            </a:pPr>
            <a:r>
              <a:rPr sz="1050" b="0">
                <a:solidFill>
                  <a:srgbClr val="C23333"/>
                </a:solidFill>
                <a:latin typeface="Segoe UI"/>
              </a:rPr>
              <a:t>+384%</a:t>
            </a:r>
          </a:p>
        </p:txBody>
      </p:sp>
      <p:sp>
        <p:nvSpPr>
          <p:cNvPr id="24" name="TextBox 23"/>
          <p:cNvSpPr txBox="1"/>
          <p:nvPr/>
        </p:nvSpPr>
        <p:spPr>
          <a:xfrm>
            <a:off x="9966959" y="2862072"/>
            <a:ext cx="1463040" cy="292608"/>
          </a:xfrm>
          <a:prstGeom prst="rect">
            <a:avLst/>
          </a:prstGeom>
          <a:noFill/>
        </p:spPr>
        <p:txBody>
          <a:bodyPr wrap="square">
            <a:spAutoFit/>
          </a:bodyPr>
          <a:lstStyle/>
          <a:p>
            <a:pPr algn="l">
              <a:spcAft>
                <a:spcPts val="400"/>
              </a:spcAft>
            </a:pPr>
            <a:r>
              <a:rPr sz="1050" b="0">
                <a:solidFill>
                  <a:srgbClr val="C23333"/>
                </a:solidFill>
                <a:latin typeface="Segoe UI"/>
              </a:rPr>
              <a:t>Critical</a:t>
            </a:r>
          </a:p>
        </p:txBody>
      </p:sp>
      <p:sp>
        <p:nvSpPr>
          <p:cNvPr id="25" name="TextBox 24"/>
          <p:cNvSpPr txBox="1"/>
          <p:nvPr/>
        </p:nvSpPr>
        <p:spPr>
          <a:xfrm>
            <a:off x="777240" y="3246120"/>
            <a:ext cx="1463040" cy="292608"/>
          </a:xfrm>
          <a:prstGeom prst="rect">
            <a:avLst/>
          </a:prstGeom>
          <a:noFill/>
        </p:spPr>
        <p:txBody>
          <a:bodyPr wrap="square">
            <a:spAutoFit/>
          </a:bodyPr>
          <a:lstStyle/>
          <a:p>
            <a:pPr algn="l">
              <a:spcAft>
                <a:spcPts val="400"/>
              </a:spcAft>
            </a:pPr>
            <a:r>
              <a:rPr sz="1050" b="0">
                <a:solidFill>
                  <a:srgbClr val="445066"/>
                </a:solidFill>
                <a:latin typeface="Segoe UI"/>
              </a:rPr>
              <a:t>01 Nov 2025</a:t>
            </a:r>
          </a:p>
        </p:txBody>
      </p:sp>
      <p:sp>
        <p:nvSpPr>
          <p:cNvPr id="26" name="TextBox 25"/>
          <p:cNvSpPr txBox="1"/>
          <p:nvPr/>
        </p:nvSpPr>
        <p:spPr>
          <a:xfrm>
            <a:off x="2377439" y="3246120"/>
            <a:ext cx="2743200" cy="292608"/>
          </a:xfrm>
          <a:prstGeom prst="rect">
            <a:avLst/>
          </a:prstGeom>
          <a:noFill/>
        </p:spPr>
        <p:txBody>
          <a:bodyPr wrap="square">
            <a:spAutoFit/>
          </a:bodyPr>
          <a:lstStyle/>
          <a:p>
            <a:pPr algn="l">
              <a:spcAft>
                <a:spcPts val="400"/>
              </a:spcAft>
            </a:pPr>
            <a:r>
              <a:rPr sz="1050" b="0">
                <a:solidFill>
                  <a:srgbClr val="0B142A"/>
                </a:solidFill>
                <a:latin typeface="Segoe UI"/>
              </a:rPr>
              <a:t>AI and Machine Learning</a:t>
            </a:r>
          </a:p>
        </p:txBody>
      </p:sp>
      <p:sp>
        <p:nvSpPr>
          <p:cNvPr id="27" name="TextBox 26"/>
          <p:cNvSpPr txBox="1"/>
          <p:nvPr/>
        </p:nvSpPr>
        <p:spPr>
          <a:xfrm>
            <a:off x="5303520" y="3246120"/>
            <a:ext cx="1280160" cy="292608"/>
          </a:xfrm>
          <a:prstGeom prst="rect">
            <a:avLst/>
          </a:prstGeom>
          <a:noFill/>
        </p:spPr>
        <p:txBody>
          <a:bodyPr wrap="square">
            <a:spAutoFit/>
          </a:bodyPr>
          <a:lstStyle/>
          <a:p>
            <a:pPr algn="l">
              <a:spcAft>
                <a:spcPts val="400"/>
              </a:spcAft>
            </a:pPr>
            <a:r>
              <a:rPr sz="1050" b="0">
                <a:solidFill>
                  <a:srgbClr val="445066"/>
                </a:solidFill>
                <a:latin typeface="Segoe UI"/>
              </a:rPr>
              <a:t>$263</a:t>
            </a:r>
          </a:p>
        </p:txBody>
      </p:sp>
      <p:sp>
        <p:nvSpPr>
          <p:cNvPr id="28" name="TextBox 27"/>
          <p:cNvSpPr txBox="1"/>
          <p:nvPr/>
        </p:nvSpPr>
        <p:spPr>
          <a:xfrm>
            <a:off x="6766560" y="3246120"/>
            <a:ext cx="1280160" cy="292608"/>
          </a:xfrm>
          <a:prstGeom prst="rect">
            <a:avLst/>
          </a:prstGeom>
          <a:noFill/>
        </p:spPr>
        <p:txBody>
          <a:bodyPr wrap="square">
            <a:spAutoFit/>
          </a:bodyPr>
          <a:lstStyle/>
          <a:p>
            <a:pPr algn="l">
              <a:spcAft>
                <a:spcPts val="400"/>
              </a:spcAft>
            </a:pPr>
            <a:r>
              <a:rPr sz="1050" b="0">
                <a:solidFill>
                  <a:srgbClr val="7A8599"/>
                </a:solidFill>
                <a:latin typeface="Segoe UI"/>
              </a:rPr>
              <a:t>$159</a:t>
            </a:r>
          </a:p>
        </p:txBody>
      </p:sp>
      <p:sp>
        <p:nvSpPr>
          <p:cNvPr id="29" name="TextBox 28"/>
          <p:cNvSpPr txBox="1"/>
          <p:nvPr/>
        </p:nvSpPr>
        <p:spPr>
          <a:xfrm>
            <a:off x="8321040" y="3246120"/>
            <a:ext cx="1463040" cy="292608"/>
          </a:xfrm>
          <a:prstGeom prst="rect">
            <a:avLst/>
          </a:prstGeom>
          <a:noFill/>
        </p:spPr>
        <p:txBody>
          <a:bodyPr wrap="square">
            <a:spAutoFit/>
          </a:bodyPr>
          <a:lstStyle/>
          <a:p>
            <a:pPr algn="l">
              <a:spcAft>
                <a:spcPts val="400"/>
              </a:spcAft>
            </a:pPr>
            <a:r>
              <a:rPr sz="1050" b="0">
                <a:solidFill>
                  <a:srgbClr val="C98500"/>
                </a:solidFill>
                <a:latin typeface="Segoe UI"/>
              </a:rPr>
              <a:t>+65%</a:t>
            </a:r>
          </a:p>
        </p:txBody>
      </p:sp>
      <p:sp>
        <p:nvSpPr>
          <p:cNvPr id="30" name="TextBox 29"/>
          <p:cNvSpPr txBox="1"/>
          <p:nvPr/>
        </p:nvSpPr>
        <p:spPr>
          <a:xfrm>
            <a:off x="9966959" y="3246120"/>
            <a:ext cx="1463040" cy="292608"/>
          </a:xfrm>
          <a:prstGeom prst="rect">
            <a:avLst/>
          </a:prstGeom>
          <a:noFill/>
        </p:spPr>
        <p:txBody>
          <a:bodyPr wrap="square">
            <a:spAutoFit/>
          </a:bodyPr>
          <a:lstStyle/>
          <a:p>
            <a:pPr algn="l">
              <a:spcAft>
                <a:spcPts val="400"/>
              </a:spcAft>
            </a:pPr>
            <a:r>
              <a:rPr sz="1050" b="0">
                <a:solidFill>
                  <a:srgbClr val="C98500"/>
                </a:solidFill>
                <a:latin typeface="Segoe UI"/>
              </a:rPr>
              <a:t>Serious</a:t>
            </a:r>
          </a:p>
        </p:txBody>
      </p:sp>
      <p:sp>
        <p:nvSpPr>
          <p:cNvPr id="31" name="TextBox 30"/>
          <p:cNvSpPr txBox="1"/>
          <p:nvPr/>
        </p:nvSpPr>
        <p:spPr>
          <a:xfrm>
            <a:off x="640080" y="3931920"/>
            <a:ext cx="10881360" cy="1828800"/>
          </a:xfrm>
          <a:prstGeom prst="rect">
            <a:avLst/>
          </a:prstGeom>
          <a:noFill/>
        </p:spPr>
        <p:txBody>
          <a:bodyPr wrap="square">
            <a:spAutoFit/>
          </a:bodyPr>
          <a:lstStyle/>
          <a:p>
            <a:pPr>
              <a:spcAft>
                <a:spcPts val="900"/>
              </a:spcAft>
            </a:pPr>
            <a:r>
              <a:rPr sz="1200">
                <a:solidFill>
                  <a:srgbClr val="445066"/>
                </a:solidFill>
                <a:latin typeface="Segoe UI"/>
              </a:rPr>
              <a:t>—  Modified z-score = 0.6745 × (x − median) / MAD, threshold ≈ 3.5 — robust to the very outliers it is hunting</a:t>
            </a:r>
          </a:p>
          <a:p>
            <a:pPr>
              <a:spcAft>
                <a:spcPts val="900"/>
              </a:spcAft>
            </a:pPr>
            <a:r>
              <a:rPr sz="1200">
                <a:solidFill>
                  <a:srgbClr val="445066"/>
                </a:solidFill>
                <a:latin typeface="Segoe UI"/>
              </a:rPr>
              <a:t>—  The test runs on the STL residual, so weekday, weekend and monthly cycles do not trip alerts</a:t>
            </a:r>
          </a:p>
          <a:p>
            <a:pPr>
              <a:spcAft>
                <a:spcPts val="900"/>
              </a:spcAft>
            </a:pPr>
            <a:r>
              <a:rPr sz="1200">
                <a:solidFill>
                  <a:srgbClr val="445066"/>
                </a:solidFill>
                <a:latin typeface="Segoe UI"/>
              </a:rPr>
              <a:t>—  Mirrors AWS Cost Anomaly Detection semantics: ≥10-day warm-up, dynamic thresholds rather than a static dollar line</a:t>
            </a:r>
          </a:p>
          <a:p>
            <a:pPr>
              <a:spcAft>
                <a:spcPts val="900"/>
              </a:spcAft>
            </a:pPr>
            <a:r>
              <a:rPr sz="1200">
                <a:solidFill>
                  <a:srgbClr val="445066"/>
                </a:solidFill>
                <a:latin typeface="Segoe UI"/>
              </a:rPr>
              <a:t>—  Severity is carried by an icon and a label as well as colour — never by colour alone</a:t>
            </a:r>
          </a:p>
        </p:txBody>
      </p:sp>
      <p:sp>
        <p:nvSpPr>
          <p:cNvPr id="32" name="TextBox 31"/>
          <p:cNvSpPr txBox="1"/>
          <p:nvPr/>
        </p:nvSpPr>
        <p:spPr>
          <a:xfrm>
            <a:off x="640080" y="6355080"/>
            <a:ext cx="8229600" cy="274320"/>
          </a:xfrm>
          <a:prstGeom prst="rect">
            <a:avLst/>
          </a:prstGeom>
          <a:noFill/>
        </p:spPr>
        <p:txBody>
          <a:bodyPr wrap="square">
            <a:spAutoFit/>
          </a:bodyPr>
          <a:lstStyle/>
          <a:p>
            <a:pPr algn="l">
              <a:spcAft>
                <a:spcPts val="400"/>
              </a:spcAft>
            </a:pPr>
            <a:r>
              <a:rPr sz="850" b="0">
                <a:solidFill>
                  <a:srgbClr val="7A8599"/>
                </a:solidFill>
                <a:latin typeface="Segoe UI"/>
              </a:rPr>
              <a:t>Figures computed from a synthetic 24-month utility estate shipped with the platform. No customer data.</a:t>
            </a:r>
          </a:p>
        </p:txBody>
      </p:sp>
      <p:sp>
        <p:nvSpPr>
          <p:cNvPr id="33" name="TextBox 32"/>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CONNECTING YOUR ESTATE</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800" b="1">
                <a:solidFill>
                  <a:srgbClr val="0B142A"/>
                </a:solidFill>
                <a:latin typeface="Segoe UI"/>
              </a:rPr>
              <a:t>How many credentials do you actually need?</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Far fewer than you think — one credential already spans many accounts</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11680"/>
            <a:ext cx="10881360" cy="91440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2176272"/>
            <a:ext cx="1188720" cy="365760"/>
          </a:xfrm>
          <a:prstGeom prst="rect">
            <a:avLst/>
          </a:prstGeom>
          <a:noFill/>
        </p:spPr>
        <p:txBody>
          <a:bodyPr wrap="square">
            <a:spAutoFit/>
          </a:bodyPr>
          <a:lstStyle/>
          <a:p>
            <a:pPr algn="l">
              <a:spcAft>
                <a:spcPts val="400"/>
              </a:spcAft>
            </a:pPr>
            <a:r>
              <a:rPr sz="1400" b="1">
                <a:solidFill>
                  <a:srgbClr val="1E6FD9"/>
                </a:solidFill>
                <a:latin typeface="Segoe UI"/>
              </a:rPr>
              <a:t>AWS</a:t>
            </a:r>
          </a:p>
        </p:txBody>
      </p:sp>
      <p:sp>
        <p:nvSpPr>
          <p:cNvPr id="8" name="TextBox 7"/>
          <p:cNvSpPr txBox="1"/>
          <p:nvPr/>
        </p:nvSpPr>
        <p:spPr>
          <a:xfrm>
            <a:off x="2148840" y="2121408"/>
            <a:ext cx="6035040" cy="731520"/>
          </a:xfrm>
          <a:prstGeom prst="rect">
            <a:avLst/>
          </a:prstGeom>
          <a:noFill/>
        </p:spPr>
        <p:txBody>
          <a:bodyPr wrap="square">
            <a:spAutoFit/>
          </a:bodyPr>
          <a:lstStyle/>
          <a:p>
            <a:pPr algn="l">
              <a:spcAft>
                <a:spcPts val="400"/>
              </a:spcAft>
            </a:pPr>
            <a:r>
              <a:rPr sz="1100" b="0">
                <a:solidFill>
                  <a:srgbClr val="445066"/>
                </a:solidFill>
                <a:latin typeface="Segoe UI"/>
              </a:rPr>
              <a:t>Cost Explorer / Data Exports at the payer (management) account return every linked account. They arrive in FOCUS as SubAccountId.</a:t>
            </a:r>
          </a:p>
        </p:txBody>
      </p:sp>
      <p:sp>
        <p:nvSpPr>
          <p:cNvPr id="9" name="TextBox 8"/>
          <p:cNvSpPr txBox="1"/>
          <p:nvPr/>
        </p:nvSpPr>
        <p:spPr>
          <a:xfrm>
            <a:off x="8412480" y="2267712"/>
            <a:ext cx="2926080" cy="365760"/>
          </a:xfrm>
          <a:prstGeom prst="rect">
            <a:avLst/>
          </a:prstGeom>
          <a:noFill/>
        </p:spPr>
        <p:txBody>
          <a:bodyPr wrap="square">
            <a:spAutoFit/>
          </a:bodyPr>
          <a:lstStyle/>
          <a:p>
            <a:pPr algn="l">
              <a:spcAft>
                <a:spcPts val="400"/>
              </a:spcAft>
            </a:pPr>
            <a:r>
              <a:rPr sz="1100" b="1">
                <a:solidFill>
                  <a:srgbClr val="0B142A"/>
                </a:solidFill>
                <a:latin typeface="Segoe UI"/>
              </a:rPr>
              <a:t>One credential per payer</a:t>
            </a:r>
          </a:p>
        </p:txBody>
      </p:sp>
      <p:sp>
        <p:nvSpPr>
          <p:cNvPr id="10" name="Rounded Rectangle 9"/>
          <p:cNvSpPr/>
          <p:nvPr/>
        </p:nvSpPr>
        <p:spPr>
          <a:xfrm>
            <a:off x="640080" y="3035808"/>
            <a:ext cx="10881360" cy="91440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68680" y="3200400"/>
            <a:ext cx="1188720" cy="365760"/>
          </a:xfrm>
          <a:prstGeom prst="rect">
            <a:avLst/>
          </a:prstGeom>
          <a:noFill/>
        </p:spPr>
        <p:txBody>
          <a:bodyPr wrap="square">
            <a:spAutoFit/>
          </a:bodyPr>
          <a:lstStyle/>
          <a:p>
            <a:pPr algn="l">
              <a:spcAft>
                <a:spcPts val="400"/>
              </a:spcAft>
            </a:pPr>
            <a:r>
              <a:rPr sz="1400" b="1">
                <a:solidFill>
                  <a:srgbClr val="1E6FD9"/>
                </a:solidFill>
                <a:latin typeface="Segoe UI"/>
              </a:rPr>
              <a:t>Azure</a:t>
            </a:r>
          </a:p>
        </p:txBody>
      </p:sp>
      <p:sp>
        <p:nvSpPr>
          <p:cNvPr id="12" name="TextBox 11"/>
          <p:cNvSpPr txBox="1"/>
          <p:nvPr/>
        </p:nvSpPr>
        <p:spPr>
          <a:xfrm>
            <a:off x="2148840" y="3145536"/>
            <a:ext cx="6035040" cy="731520"/>
          </a:xfrm>
          <a:prstGeom prst="rect">
            <a:avLst/>
          </a:prstGeom>
          <a:noFill/>
        </p:spPr>
        <p:txBody>
          <a:bodyPr wrap="square">
            <a:spAutoFit/>
          </a:bodyPr>
          <a:lstStyle/>
          <a:p>
            <a:pPr algn="l">
              <a:spcAft>
                <a:spcPts val="400"/>
              </a:spcAft>
            </a:pPr>
            <a:r>
              <a:rPr sz="1100" b="0">
                <a:solidFill>
                  <a:srgbClr val="445066"/>
                </a:solidFill>
                <a:latin typeface="Segoe UI"/>
              </a:rPr>
              <a:t>Billing-account scope covers every subscription beneath it. Subscription scope covers exactly one — prefer the billing account.</a:t>
            </a:r>
          </a:p>
        </p:txBody>
      </p:sp>
      <p:sp>
        <p:nvSpPr>
          <p:cNvPr id="13" name="TextBox 12"/>
          <p:cNvSpPr txBox="1"/>
          <p:nvPr/>
        </p:nvSpPr>
        <p:spPr>
          <a:xfrm>
            <a:off x="8412480" y="3291840"/>
            <a:ext cx="2926080" cy="365760"/>
          </a:xfrm>
          <a:prstGeom prst="rect">
            <a:avLst/>
          </a:prstGeom>
          <a:noFill/>
        </p:spPr>
        <p:txBody>
          <a:bodyPr wrap="square">
            <a:spAutoFit/>
          </a:bodyPr>
          <a:lstStyle/>
          <a:p>
            <a:pPr algn="l">
              <a:spcAft>
                <a:spcPts val="400"/>
              </a:spcAft>
            </a:pPr>
            <a:r>
              <a:rPr sz="1100" b="1">
                <a:solidFill>
                  <a:srgbClr val="0B142A"/>
                </a:solidFill>
                <a:latin typeface="Segoe UI"/>
              </a:rPr>
              <a:t>One credential per tenant</a:t>
            </a:r>
          </a:p>
        </p:txBody>
      </p:sp>
      <p:sp>
        <p:nvSpPr>
          <p:cNvPr id="14" name="Rounded Rectangle 13"/>
          <p:cNvSpPr/>
          <p:nvPr/>
        </p:nvSpPr>
        <p:spPr>
          <a:xfrm>
            <a:off x="640080" y="4059936"/>
            <a:ext cx="10881360" cy="91440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4224528"/>
            <a:ext cx="1188720" cy="365760"/>
          </a:xfrm>
          <a:prstGeom prst="rect">
            <a:avLst/>
          </a:prstGeom>
          <a:noFill/>
        </p:spPr>
        <p:txBody>
          <a:bodyPr wrap="square">
            <a:spAutoFit/>
          </a:bodyPr>
          <a:lstStyle/>
          <a:p>
            <a:pPr algn="l">
              <a:spcAft>
                <a:spcPts val="400"/>
              </a:spcAft>
            </a:pPr>
            <a:r>
              <a:rPr sz="1400" b="1">
                <a:solidFill>
                  <a:srgbClr val="1E6FD9"/>
                </a:solidFill>
                <a:latin typeface="Segoe UI"/>
              </a:rPr>
              <a:t>GCP</a:t>
            </a:r>
          </a:p>
        </p:txBody>
      </p:sp>
      <p:sp>
        <p:nvSpPr>
          <p:cNvPr id="16" name="TextBox 15"/>
          <p:cNvSpPr txBox="1"/>
          <p:nvPr/>
        </p:nvSpPr>
        <p:spPr>
          <a:xfrm>
            <a:off x="2148840" y="4169664"/>
            <a:ext cx="6035040" cy="731520"/>
          </a:xfrm>
          <a:prstGeom prst="rect">
            <a:avLst/>
          </a:prstGeom>
          <a:noFill/>
        </p:spPr>
        <p:txBody>
          <a:bodyPr wrap="square">
            <a:spAutoFit/>
          </a:bodyPr>
          <a:lstStyle/>
          <a:p>
            <a:pPr algn="l">
              <a:spcAft>
                <a:spcPts val="400"/>
              </a:spcAft>
            </a:pPr>
            <a:r>
              <a:rPr sz="1100" b="0">
                <a:solidFill>
                  <a:srgbClr val="445066"/>
                </a:solidFill>
                <a:latin typeface="Segoe UI"/>
              </a:rPr>
              <a:t>A billing account's BigQuery export carries every project it pays for, again as SubAccountId.</a:t>
            </a:r>
          </a:p>
        </p:txBody>
      </p:sp>
      <p:sp>
        <p:nvSpPr>
          <p:cNvPr id="17" name="TextBox 16"/>
          <p:cNvSpPr txBox="1"/>
          <p:nvPr/>
        </p:nvSpPr>
        <p:spPr>
          <a:xfrm>
            <a:off x="8412480" y="4315968"/>
            <a:ext cx="2926080" cy="365760"/>
          </a:xfrm>
          <a:prstGeom prst="rect">
            <a:avLst/>
          </a:prstGeom>
          <a:noFill/>
        </p:spPr>
        <p:txBody>
          <a:bodyPr wrap="square">
            <a:spAutoFit/>
          </a:bodyPr>
          <a:lstStyle/>
          <a:p>
            <a:pPr algn="l">
              <a:spcAft>
                <a:spcPts val="400"/>
              </a:spcAft>
            </a:pPr>
            <a:r>
              <a:rPr sz="1100" b="1">
                <a:solidFill>
                  <a:srgbClr val="0B142A"/>
                </a:solidFill>
                <a:latin typeface="Segoe UI"/>
              </a:rPr>
              <a:t>One credential per billing account</a:t>
            </a:r>
          </a:p>
        </p:txBody>
      </p:sp>
      <p:sp>
        <p:nvSpPr>
          <p:cNvPr id="18" name="TextBox 17"/>
          <p:cNvSpPr txBox="1"/>
          <p:nvPr/>
        </p:nvSpPr>
        <p:spPr>
          <a:xfrm>
            <a:off x="640080" y="5212080"/>
            <a:ext cx="10881360" cy="1005840"/>
          </a:xfrm>
          <a:prstGeom prst="rect">
            <a:avLst/>
          </a:prstGeom>
          <a:noFill/>
        </p:spPr>
        <p:txBody>
          <a:bodyPr wrap="square">
            <a:spAutoFit/>
          </a:bodyPr>
          <a:lstStyle/>
          <a:p>
            <a:pPr algn="l">
              <a:spcAft>
                <a:spcPts val="400"/>
              </a:spcAft>
            </a:pPr>
            <a:r>
              <a:rPr sz="1150" b="0">
                <a:solidFill>
                  <a:srgbClr val="445066"/>
                </a:solidFill>
                <a:latin typeface="Segoe UI"/>
              </a:rPr>
              <a:t>A second credential is needed only for a second PAYER — another AWS organization, another Azure tenant or billing account, another GCP billing account. A regulated utility usually has several, because regulated and unregulated entities cannot share a bill. Declare each as an [[accounts]] entry; they are pulled independently and concatenated into one FOCUS frame, where BillingAccountId keeps them apart. A failing binding never takes the page down.</a:t>
            </a:r>
          </a:p>
        </p:txBody>
      </p:sp>
      <p:sp>
        <p:nvSpPr>
          <p:cNvPr id="19" name="TextBox 18"/>
          <p:cNvSpPr txBox="1"/>
          <p:nvPr/>
        </p:nvSpPr>
        <p:spPr>
          <a:xfrm>
            <a:off x="640080" y="6355080"/>
            <a:ext cx="8229600" cy="274320"/>
          </a:xfrm>
          <a:prstGeom prst="rect">
            <a:avLst/>
          </a:prstGeom>
          <a:noFill/>
        </p:spPr>
        <p:txBody>
          <a:bodyPr wrap="square">
            <a:spAutoFit/>
          </a:bodyPr>
          <a:lstStyle/>
          <a:p>
            <a:pPr algn="l">
              <a:spcAft>
                <a:spcPts val="400"/>
              </a:spcAft>
            </a:pPr>
          </a:p>
        </p:txBody>
      </p:sp>
      <p:sp>
        <p:nvSpPr>
          <p:cNvPr id="20" name="TextBox 19"/>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AGENTIC AI</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800" b="1">
                <a:solidFill>
                  <a:srgbClr val="0B142A"/>
                </a:solidFill>
                <a:latin typeface="Segoe UI"/>
              </a:rPr>
              <a:t>A supervisor and four specialists, grounded in your data</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OpenAI + LangGraph — every figure quoted comes from a tool call against the FOCUS frame</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11680"/>
            <a:ext cx="2286000" cy="914400"/>
          </a:xfrm>
          <a:prstGeom prst="roundRect">
            <a:avLst>
              <a:gd name="adj" fmla="val 6000"/>
            </a:avLst>
          </a:prstGeom>
          <a:solidFill>
            <a:srgbClr val="E8F1FD"/>
          </a:solidFill>
          <a:ln w="12700">
            <a:solidFill>
              <a:srgbClr val="1E6F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2176272"/>
            <a:ext cx="2103120" cy="320040"/>
          </a:xfrm>
          <a:prstGeom prst="rect">
            <a:avLst/>
          </a:prstGeom>
          <a:noFill/>
        </p:spPr>
        <p:txBody>
          <a:bodyPr wrap="square">
            <a:spAutoFit/>
          </a:bodyPr>
          <a:lstStyle/>
          <a:p>
            <a:pPr algn="ctr">
              <a:spcAft>
                <a:spcPts val="400"/>
              </a:spcAft>
            </a:pPr>
            <a:r>
              <a:rPr sz="1300" b="1">
                <a:solidFill>
                  <a:srgbClr val="0B142A"/>
                </a:solidFill>
                <a:latin typeface="Segoe UI"/>
              </a:rPr>
              <a:t>Supervisor</a:t>
            </a:r>
          </a:p>
        </p:txBody>
      </p:sp>
      <p:sp>
        <p:nvSpPr>
          <p:cNvPr id="8" name="TextBox 7"/>
          <p:cNvSpPr txBox="1"/>
          <p:nvPr/>
        </p:nvSpPr>
        <p:spPr>
          <a:xfrm>
            <a:off x="731520" y="2487168"/>
            <a:ext cx="2103120" cy="365760"/>
          </a:xfrm>
          <a:prstGeom prst="rect">
            <a:avLst/>
          </a:prstGeom>
          <a:noFill/>
        </p:spPr>
        <p:txBody>
          <a:bodyPr wrap="square">
            <a:spAutoFit/>
          </a:bodyPr>
          <a:lstStyle/>
          <a:p>
            <a:pPr algn="ctr">
              <a:spcAft>
                <a:spcPts val="400"/>
              </a:spcAft>
            </a:pPr>
            <a:r>
              <a:rPr sz="950" b="0">
                <a:solidFill>
                  <a:srgbClr val="7A8599"/>
                </a:solidFill>
                <a:latin typeface="Segoe UI"/>
              </a:rPr>
              <a:t>routes on gpt-5-mini</a:t>
            </a:r>
          </a:p>
        </p:txBody>
      </p:sp>
      <p:sp>
        <p:nvSpPr>
          <p:cNvPr id="9" name="Rounded Rectangle 8"/>
          <p:cNvSpPr/>
          <p:nvPr/>
        </p:nvSpPr>
        <p:spPr>
          <a:xfrm>
            <a:off x="3383280" y="2011680"/>
            <a:ext cx="8138160" cy="713232"/>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566160" y="2066544"/>
            <a:ext cx="1554480" cy="320040"/>
          </a:xfrm>
          <a:prstGeom prst="rect">
            <a:avLst/>
          </a:prstGeom>
          <a:noFill/>
        </p:spPr>
        <p:txBody>
          <a:bodyPr wrap="square">
            <a:spAutoFit/>
          </a:bodyPr>
          <a:lstStyle/>
          <a:p>
            <a:pPr algn="l">
              <a:spcAft>
                <a:spcPts val="400"/>
              </a:spcAft>
            </a:pPr>
            <a:r>
              <a:rPr sz="1200" b="1">
                <a:solidFill>
                  <a:srgbClr val="0B142A"/>
                </a:solidFill>
                <a:latin typeface="Segoe UI"/>
              </a:rPr>
              <a:t>Analyst</a:t>
            </a:r>
          </a:p>
        </p:txBody>
      </p:sp>
      <p:sp>
        <p:nvSpPr>
          <p:cNvPr id="11" name="TextBox 10"/>
          <p:cNvSpPr txBox="1"/>
          <p:nvPr/>
        </p:nvSpPr>
        <p:spPr>
          <a:xfrm>
            <a:off x="5120640" y="2084832"/>
            <a:ext cx="2834640" cy="274320"/>
          </a:xfrm>
          <a:prstGeom prst="rect">
            <a:avLst/>
          </a:prstGeom>
          <a:noFill/>
        </p:spPr>
        <p:txBody>
          <a:bodyPr wrap="square">
            <a:spAutoFit/>
          </a:bodyPr>
          <a:lstStyle/>
          <a:p>
            <a:pPr algn="l">
              <a:spcAft>
                <a:spcPts val="400"/>
              </a:spcAft>
            </a:pPr>
            <a:r>
              <a:rPr sz="1000" b="1">
                <a:solidFill>
                  <a:srgbClr val="5B4BC4"/>
                </a:solidFill>
                <a:latin typeface="Segoe UI"/>
              </a:rPr>
              <a:t>Understand Usage &amp; Cost</a:t>
            </a:r>
          </a:p>
        </p:txBody>
      </p:sp>
      <p:sp>
        <p:nvSpPr>
          <p:cNvPr id="12" name="TextBox 11"/>
          <p:cNvSpPr txBox="1"/>
          <p:nvPr/>
        </p:nvSpPr>
        <p:spPr>
          <a:xfrm>
            <a:off x="8046720" y="2084832"/>
            <a:ext cx="3291840" cy="457200"/>
          </a:xfrm>
          <a:prstGeom prst="rect">
            <a:avLst/>
          </a:prstGeom>
          <a:noFill/>
        </p:spPr>
        <p:txBody>
          <a:bodyPr wrap="square">
            <a:spAutoFit/>
          </a:bodyPr>
          <a:lstStyle/>
          <a:p>
            <a:pPr algn="l">
              <a:spcAft>
                <a:spcPts val="400"/>
              </a:spcAft>
            </a:pPr>
            <a:r>
              <a:rPr sz="1000" b="0">
                <a:solidFill>
                  <a:srgbClr val="445066"/>
                </a:solidFill>
                <a:latin typeface="Segoe UI"/>
              </a:rPr>
              <a:t>spend, allocation, anomalies, coverage</a:t>
            </a:r>
          </a:p>
        </p:txBody>
      </p:sp>
      <p:sp>
        <p:nvSpPr>
          <p:cNvPr id="13" name="Rounded Rectangle 12"/>
          <p:cNvSpPr/>
          <p:nvPr/>
        </p:nvSpPr>
        <p:spPr>
          <a:xfrm>
            <a:off x="3383280" y="2798064"/>
            <a:ext cx="8138160" cy="713232"/>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66160" y="2852928"/>
            <a:ext cx="1554480" cy="320040"/>
          </a:xfrm>
          <a:prstGeom prst="rect">
            <a:avLst/>
          </a:prstGeom>
          <a:noFill/>
        </p:spPr>
        <p:txBody>
          <a:bodyPr wrap="square">
            <a:spAutoFit/>
          </a:bodyPr>
          <a:lstStyle/>
          <a:p>
            <a:pPr algn="l">
              <a:spcAft>
                <a:spcPts val="400"/>
              </a:spcAft>
            </a:pPr>
            <a:r>
              <a:rPr sz="1200" b="1">
                <a:solidFill>
                  <a:srgbClr val="0B142A"/>
                </a:solidFill>
                <a:latin typeface="Segoe UI"/>
              </a:rPr>
              <a:t>Forecaster</a:t>
            </a:r>
          </a:p>
        </p:txBody>
      </p:sp>
      <p:sp>
        <p:nvSpPr>
          <p:cNvPr id="15" name="TextBox 14"/>
          <p:cNvSpPr txBox="1"/>
          <p:nvPr/>
        </p:nvSpPr>
        <p:spPr>
          <a:xfrm>
            <a:off x="5120640" y="2871216"/>
            <a:ext cx="2834640" cy="274320"/>
          </a:xfrm>
          <a:prstGeom prst="rect">
            <a:avLst/>
          </a:prstGeom>
          <a:noFill/>
        </p:spPr>
        <p:txBody>
          <a:bodyPr wrap="square">
            <a:spAutoFit/>
          </a:bodyPr>
          <a:lstStyle/>
          <a:p>
            <a:pPr algn="l">
              <a:spcAft>
                <a:spcPts val="400"/>
              </a:spcAft>
            </a:pPr>
            <a:r>
              <a:rPr sz="1000" b="1">
                <a:solidFill>
                  <a:srgbClr val="5B4BC4"/>
                </a:solidFill>
                <a:latin typeface="Segoe UI"/>
              </a:rPr>
              <a:t>Quantify Business Value</a:t>
            </a:r>
          </a:p>
        </p:txBody>
      </p:sp>
      <p:sp>
        <p:nvSpPr>
          <p:cNvPr id="16" name="TextBox 15"/>
          <p:cNvSpPr txBox="1"/>
          <p:nvPr/>
        </p:nvSpPr>
        <p:spPr>
          <a:xfrm>
            <a:off x="8046720" y="2871216"/>
            <a:ext cx="3291840" cy="457200"/>
          </a:xfrm>
          <a:prstGeom prst="rect">
            <a:avLst/>
          </a:prstGeom>
          <a:noFill/>
        </p:spPr>
        <p:txBody>
          <a:bodyPr wrap="square">
            <a:spAutoFit/>
          </a:bodyPr>
          <a:lstStyle/>
          <a:p>
            <a:pPr algn="l">
              <a:spcAft>
                <a:spcPts val="400"/>
              </a:spcAft>
            </a:pPr>
            <a:r>
              <a:rPr sz="1000" b="0">
                <a:solidFill>
                  <a:srgbClr val="445066"/>
                </a:solidFill>
                <a:latin typeface="Segoe UI"/>
              </a:rPr>
              <a:t>forecast, budget variance, year-end</a:t>
            </a:r>
          </a:p>
        </p:txBody>
      </p:sp>
      <p:sp>
        <p:nvSpPr>
          <p:cNvPr id="17" name="Rounded Rectangle 16"/>
          <p:cNvSpPr/>
          <p:nvPr/>
        </p:nvSpPr>
        <p:spPr>
          <a:xfrm>
            <a:off x="3383280" y="3584448"/>
            <a:ext cx="8138160" cy="713232"/>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566160" y="3639312"/>
            <a:ext cx="1554480" cy="320040"/>
          </a:xfrm>
          <a:prstGeom prst="rect">
            <a:avLst/>
          </a:prstGeom>
          <a:noFill/>
        </p:spPr>
        <p:txBody>
          <a:bodyPr wrap="square">
            <a:spAutoFit/>
          </a:bodyPr>
          <a:lstStyle/>
          <a:p>
            <a:pPr algn="l">
              <a:spcAft>
                <a:spcPts val="400"/>
              </a:spcAft>
            </a:pPr>
            <a:r>
              <a:rPr sz="1200" b="1">
                <a:solidFill>
                  <a:srgbClr val="0B142A"/>
                </a:solidFill>
                <a:latin typeface="Segoe UI"/>
              </a:rPr>
              <a:t>Optimizer</a:t>
            </a:r>
          </a:p>
        </p:txBody>
      </p:sp>
      <p:sp>
        <p:nvSpPr>
          <p:cNvPr id="19" name="TextBox 18"/>
          <p:cNvSpPr txBox="1"/>
          <p:nvPr/>
        </p:nvSpPr>
        <p:spPr>
          <a:xfrm>
            <a:off x="5120640" y="3657600"/>
            <a:ext cx="2834640" cy="274320"/>
          </a:xfrm>
          <a:prstGeom prst="rect">
            <a:avLst/>
          </a:prstGeom>
          <a:noFill/>
        </p:spPr>
        <p:txBody>
          <a:bodyPr wrap="square">
            <a:spAutoFit/>
          </a:bodyPr>
          <a:lstStyle/>
          <a:p>
            <a:pPr algn="l">
              <a:spcAft>
                <a:spcPts val="400"/>
              </a:spcAft>
            </a:pPr>
            <a:r>
              <a:rPr sz="1000" b="1">
                <a:solidFill>
                  <a:srgbClr val="5B4BC4"/>
                </a:solidFill>
                <a:latin typeface="Segoe UI"/>
              </a:rPr>
              <a:t>Optimize Usage &amp; Cost</a:t>
            </a:r>
          </a:p>
        </p:txBody>
      </p:sp>
      <p:sp>
        <p:nvSpPr>
          <p:cNvPr id="20" name="TextBox 19"/>
          <p:cNvSpPr txBox="1"/>
          <p:nvPr/>
        </p:nvSpPr>
        <p:spPr>
          <a:xfrm>
            <a:off x="8046720" y="3657600"/>
            <a:ext cx="3291840" cy="457200"/>
          </a:xfrm>
          <a:prstGeom prst="rect">
            <a:avLst/>
          </a:prstGeom>
          <a:noFill/>
        </p:spPr>
        <p:txBody>
          <a:bodyPr wrap="square">
            <a:spAutoFit/>
          </a:bodyPr>
          <a:lstStyle/>
          <a:p>
            <a:pPr algn="l">
              <a:spcAft>
                <a:spcPts val="400"/>
              </a:spcAft>
            </a:pPr>
            <a:r>
              <a:rPr sz="1000" b="0">
                <a:solidFill>
                  <a:srgbClr val="445066"/>
                </a:solidFill>
                <a:latin typeface="Segoe UI"/>
              </a:rPr>
              <a:t>levers, opportunities, ESR uplift</a:t>
            </a:r>
          </a:p>
        </p:txBody>
      </p:sp>
      <p:sp>
        <p:nvSpPr>
          <p:cNvPr id="21" name="Rounded Rectangle 20"/>
          <p:cNvSpPr/>
          <p:nvPr/>
        </p:nvSpPr>
        <p:spPr>
          <a:xfrm>
            <a:off x="3383280" y="4370832"/>
            <a:ext cx="8138160" cy="713232"/>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566160" y="4425696"/>
            <a:ext cx="1554480" cy="320040"/>
          </a:xfrm>
          <a:prstGeom prst="rect">
            <a:avLst/>
          </a:prstGeom>
          <a:noFill/>
        </p:spPr>
        <p:txBody>
          <a:bodyPr wrap="square">
            <a:spAutoFit/>
          </a:bodyPr>
          <a:lstStyle/>
          <a:p>
            <a:pPr algn="l">
              <a:spcAft>
                <a:spcPts val="400"/>
              </a:spcAft>
            </a:pPr>
            <a:r>
              <a:rPr sz="1200" b="1">
                <a:solidFill>
                  <a:srgbClr val="0B142A"/>
                </a:solidFill>
                <a:latin typeface="Segoe UI"/>
              </a:rPr>
              <a:t>Governor</a:t>
            </a:r>
          </a:p>
        </p:txBody>
      </p:sp>
      <p:sp>
        <p:nvSpPr>
          <p:cNvPr id="23" name="TextBox 22"/>
          <p:cNvSpPr txBox="1"/>
          <p:nvPr/>
        </p:nvSpPr>
        <p:spPr>
          <a:xfrm>
            <a:off x="5120640" y="4443984"/>
            <a:ext cx="2834640" cy="274320"/>
          </a:xfrm>
          <a:prstGeom prst="rect">
            <a:avLst/>
          </a:prstGeom>
          <a:noFill/>
        </p:spPr>
        <p:txBody>
          <a:bodyPr wrap="square">
            <a:spAutoFit/>
          </a:bodyPr>
          <a:lstStyle/>
          <a:p>
            <a:pPr algn="l">
              <a:spcAft>
                <a:spcPts val="400"/>
              </a:spcAft>
            </a:pPr>
            <a:r>
              <a:rPr sz="1000" b="1">
                <a:solidFill>
                  <a:srgbClr val="5B4BC4"/>
                </a:solidFill>
                <a:latin typeface="Segoe UI"/>
              </a:rPr>
              <a:t>Manage the FinOps Practice</a:t>
            </a:r>
          </a:p>
        </p:txBody>
      </p:sp>
      <p:sp>
        <p:nvSpPr>
          <p:cNvPr id="24" name="TextBox 23"/>
          <p:cNvSpPr txBox="1"/>
          <p:nvPr/>
        </p:nvSpPr>
        <p:spPr>
          <a:xfrm>
            <a:off x="8046720" y="4443984"/>
            <a:ext cx="3291840" cy="457200"/>
          </a:xfrm>
          <a:prstGeom prst="rect">
            <a:avLst/>
          </a:prstGeom>
          <a:noFill/>
        </p:spPr>
        <p:txBody>
          <a:bodyPr wrap="square">
            <a:spAutoFit/>
          </a:bodyPr>
          <a:lstStyle/>
          <a:p>
            <a:pPr algn="l">
              <a:spcAft>
                <a:spcPts val="400"/>
              </a:spcAft>
            </a:pPr>
            <a:r>
              <a:rPr sz="1000" b="0">
                <a:solidFill>
                  <a:srgbClr val="445066"/>
                </a:solidFill>
                <a:latin typeface="Segoe UI"/>
              </a:rPr>
              <a:t>tagging, chargeback readiness, policy</a:t>
            </a:r>
          </a:p>
        </p:txBody>
      </p:sp>
      <p:sp>
        <p:nvSpPr>
          <p:cNvPr id="25" name="TextBox 24"/>
          <p:cNvSpPr txBox="1"/>
          <p:nvPr/>
        </p:nvSpPr>
        <p:spPr>
          <a:xfrm>
            <a:off x="640080" y="5257800"/>
            <a:ext cx="10881360" cy="1188720"/>
          </a:xfrm>
          <a:prstGeom prst="rect">
            <a:avLst/>
          </a:prstGeom>
          <a:noFill/>
        </p:spPr>
        <p:txBody>
          <a:bodyPr wrap="square">
            <a:spAutoFit/>
          </a:bodyPr>
          <a:lstStyle/>
          <a:p>
            <a:pPr>
              <a:spcAft>
                <a:spcPts val="900"/>
              </a:spcAft>
            </a:pPr>
            <a:r>
              <a:rPr sz="1150">
                <a:solidFill>
                  <a:srgbClr val="445066"/>
                </a:solidFill>
                <a:latin typeface="Segoe UI"/>
              </a:rPr>
              <a:t>—  Twelve tools query the loaded FOCUS frame directly — the model never recites a number from memory</a:t>
            </a:r>
          </a:p>
          <a:p>
            <a:pPr>
              <a:spcAft>
                <a:spcPts val="900"/>
              </a:spcAft>
            </a:pPr>
            <a:r>
              <a:rPr sz="1150">
                <a:solidFill>
                  <a:srgbClr val="445066"/>
                </a:solidFill>
                <a:latin typeface="Segoe UI"/>
              </a:rPr>
              <a:t>—  The supervisor routes on the cheap model and specialists reason on the strong one: the small-model-first lever, applied to ourselves</a:t>
            </a:r>
          </a:p>
          <a:p>
            <a:pPr>
              <a:spcAft>
                <a:spcPts val="900"/>
              </a:spcAft>
            </a:pPr>
            <a:r>
              <a:rPr sz="1150">
                <a:solidFill>
                  <a:srgbClr val="445066"/>
                </a:solidFill>
                <a:latin typeface="Segoe UI"/>
              </a:rPr>
              <a:t>—  A whitelist of columns and operators guards the free-form query tool. No eval, ever</a:t>
            </a:r>
          </a:p>
          <a:p>
            <a:pPr>
              <a:spcAft>
                <a:spcPts val="900"/>
              </a:spcAft>
            </a:pPr>
            <a:r>
              <a:rPr sz="1150">
                <a:solidFill>
                  <a:srgbClr val="445066"/>
                </a:solidFill>
                <a:latin typeface="Segoe UI"/>
              </a:rPr>
              <a:t>—  Loop-guarded at eight iterations; the whole tab degrades to an explanatory panel with no API key</a:t>
            </a:r>
          </a:p>
        </p:txBody>
      </p:sp>
      <p:sp>
        <p:nvSpPr>
          <p:cNvPr id="26" name="TextBox 25"/>
          <p:cNvSpPr txBox="1"/>
          <p:nvPr/>
        </p:nvSpPr>
        <p:spPr>
          <a:xfrm>
            <a:off x="640080" y="6355080"/>
            <a:ext cx="8229600" cy="274320"/>
          </a:xfrm>
          <a:prstGeom prst="rect">
            <a:avLst/>
          </a:prstGeom>
          <a:noFill/>
        </p:spPr>
        <p:txBody>
          <a:bodyPr wrap="square">
            <a:spAutoFit/>
          </a:bodyPr>
          <a:lstStyle/>
          <a:p>
            <a:pPr algn="l">
              <a:spcAft>
                <a:spcPts val="400"/>
              </a:spcAft>
            </a:pPr>
          </a:p>
        </p:txBody>
      </p:sp>
      <p:sp>
        <p:nvSpPr>
          <p:cNvPr id="27" name="TextBox 26"/>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AGENTIC AI</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800" b="1">
                <a:solidFill>
                  <a:srgbClr val="0B142A"/>
                </a:solidFill>
                <a:latin typeface="Segoe UI"/>
              </a:rPr>
              <a:t>What actually happens when you ask a question</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Worked example: "Why did spend rise last month, and what should we do?"</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1965960"/>
            <a:ext cx="457200" cy="457200"/>
          </a:xfrm>
          <a:prstGeom prst="ellipse">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200" b="1">
                <a:solidFill>
                  <a:srgbClr val="FFFFFF"/>
                </a:solidFill>
                <a:latin typeface="Segoe UI"/>
              </a:rPr>
              <a:t>1</a:t>
            </a:r>
          </a:p>
        </p:txBody>
      </p:sp>
      <p:sp>
        <p:nvSpPr>
          <p:cNvPr id="7" name="TextBox 6"/>
          <p:cNvSpPr txBox="1"/>
          <p:nvPr/>
        </p:nvSpPr>
        <p:spPr>
          <a:xfrm>
            <a:off x="1280160" y="1984248"/>
            <a:ext cx="1737360" cy="365760"/>
          </a:xfrm>
          <a:prstGeom prst="rect">
            <a:avLst/>
          </a:prstGeom>
          <a:noFill/>
        </p:spPr>
        <p:txBody>
          <a:bodyPr wrap="square">
            <a:spAutoFit/>
          </a:bodyPr>
          <a:lstStyle/>
          <a:p>
            <a:pPr algn="l">
              <a:spcAft>
                <a:spcPts val="400"/>
              </a:spcAft>
            </a:pPr>
            <a:r>
              <a:rPr sz="1300" b="1">
                <a:solidFill>
                  <a:srgbClr val="0B142A"/>
                </a:solidFill>
                <a:latin typeface="Segoe UI"/>
              </a:rPr>
              <a:t>Route</a:t>
            </a:r>
          </a:p>
        </p:txBody>
      </p:sp>
      <p:sp>
        <p:nvSpPr>
          <p:cNvPr id="8" name="TextBox 7"/>
          <p:cNvSpPr txBox="1"/>
          <p:nvPr/>
        </p:nvSpPr>
        <p:spPr>
          <a:xfrm>
            <a:off x="3108960" y="1947672"/>
            <a:ext cx="8412480" cy="640080"/>
          </a:xfrm>
          <a:prstGeom prst="rect">
            <a:avLst/>
          </a:prstGeom>
          <a:noFill/>
        </p:spPr>
        <p:txBody>
          <a:bodyPr wrap="square">
            <a:spAutoFit/>
          </a:bodyPr>
          <a:lstStyle/>
          <a:p>
            <a:pPr algn="l">
              <a:spcAft>
                <a:spcPts val="400"/>
              </a:spcAft>
            </a:pPr>
            <a:r>
              <a:rPr sz="1100" b="0">
                <a:solidFill>
                  <a:srgbClr val="445066"/>
                </a:solidFill>
                <a:latin typeface="Segoe UI"/>
              </a:rPr>
              <a:t>The supervisor reads the question and the asking persona, and picks a specialist via structured output — not free text. Cheap model, one call.</a:t>
            </a:r>
          </a:p>
        </p:txBody>
      </p:sp>
      <p:sp>
        <p:nvSpPr>
          <p:cNvPr id="9" name="Oval 8"/>
          <p:cNvSpPr/>
          <p:nvPr/>
        </p:nvSpPr>
        <p:spPr>
          <a:xfrm>
            <a:off x="640080" y="2770632"/>
            <a:ext cx="457200" cy="457200"/>
          </a:xfrm>
          <a:prstGeom prst="ellipse">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200" b="1">
                <a:solidFill>
                  <a:srgbClr val="FFFFFF"/>
                </a:solidFill>
                <a:latin typeface="Segoe UI"/>
              </a:rPr>
              <a:t>2</a:t>
            </a:r>
          </a:p>
        </p:txBody>
      </p:sp>
      <p:sp>
        <p:nvSpPr>
          <p:cNvPr id="10" name="TextBox 9"/>
          <p:cNvSpPr txBox="1"/>
          <p:nvPr/>
        </p:nvSpPr>
        <p:spPr>
          <a:xfrm>
            <a:off x="1280160" y="2788920"/>
            <a:ext cx="1737360" cy="365760"/>
          </a:xfrm>
          <a:prstGeom prst="rect">
            <a:avLst/>
          </a:prstGeom>
          <a:noFill/>
        </p:spPr>
        <p:txBody>
          <a:bodyPr wrap="square">
            <a:spAutoFit/>
          </a:bodyPr>
          <a:lstStyle/>
          <a:p>
            <a:pPr algn="l">
              <a:spcAft>
                <a:spcPts val="400"/>
              </a:spcAft>
            </a:pPr>
            <a:r>
              <a:rPr sz="1300" b="1">
                <a:solidFill>
                  <a:srgbClr val="0B142A"/>
                </a:solidFill>
                <a:latin typeface="Segoe UI"/>
              </a:rPr>
              <a:t>Call tools</a:t>
            </a:r>
          </a:p>
        </p:txBody>
      </p:sp>
      <p:sp>
        <p:nvSpPr>
          <p:cNvPr id="11" name="TextBox 10"/>
          <p:cNvSpPr txBox="1"/>
          <p:nvPr/>
        </p:nvSpPr>
        <p:spPr>
          <a:xfrm>
            <a:off x="3108960" y="2752344"/>
            <a:ext cx="8412480" cy="640080"/>
          </a:xfrm>
          <a:prstGeom prst="rect">
            <a:avLst/>
          </a:prstGeom>
          <a:noFill/>
        </p:spPr>
        <p:txBody>
          <a:bodyPr wrap="square">
            <a:spAutoFit/>
          </a:bodyPr>
          <a:lstStyle/>
          <a:p>
            <a:pPr algn="l">
              <a:spcAft>
                <a:spcPts val="400"/>
              </a:spcAft>
            </a:pPr>
            <a:r>
              <a:rPr sz="1100" b="0">
                <a:solidFill>
                  <a:srgbClr val="445066"/>
                </a:solidFill>
                <a:latin typeface="Segoe UI"/>
              </a:rPr>
              <a:t>The Analyst calls get_spend_summary and get_anomalies against the real frame. It receives numbers, not prose.</a:t>
            </a:r>
          </a:p>
        </p:txBody>
      </p:sp>
      <p:sp>
        <p:nvSpPr>
          <p:cNvPr id="12" name="Oval 11"/>
          <p:cNvSpPr/>
          <p:nvPr/>
        </p:nvSpPr>
        <p:spPr>
          <a:xfrm>
            <a:off x="640080" y="3575304"/>
            <a:ext cx="457200" cy="457200"/>
          </a:xfrm>
          <a:prstGeom prst="ellipse">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200" b="1">
                <a:solidFill>
                  <a:srgbClr val="FFFFFF"/>
                </a:solidFill>
                <a:latin typeface="Segoe UI"/>
              </a:rPr>
              <a:t>3</a:t>
            </a:r>
          </a:p>
        </p:txBody>
      </p:sp>
      <p:sp>
        <p:nvSpPr>
          <p:cNvPr id="13" name="TextBox 12"/>
          <p:cNvSpPr txBox="1"/>
          <p:nvPr/>
        </p:nvSpPr>
        <p:spPr>
          <a:xfrm>
            <a:off x="1280160" y="3593592"/>
            <a:ext cx="1737360" cy="365760"/>
          </a:xfrm>
          <a:prstGeom prst="rect">
            <a:avLst/>
          </a:prstGeom>
          <a:noFill/>
        </p:spPr>
        <p:txBody>
          <a:bodyPr wrap="square">
            <a:spAutoFit/>
          </a:bodyPr>
          <a:lstStyle/>
          <a:p>
            <a:pPr algn="l">
              <a:spcAft>
                <a:spcPts val="400"/>
              </a:spcAft>
            </a:pPr>
            <a:r>
              <a:rPr sz="1300" b="1">
                <a:solidFill>
                  <a:srgbClr val="0B142A"/>
                </a:solidFill>
                <a:latin typeface="Segoe UI"/>
              </a:rPr>
              <a:t>Hand back</a:t>
            </a:r>
          </a:p>
        </p:txBody>
      </p:sp>
      <p:sp>
        <p:nvSpPr>
          <p:cNvPr id="14" name="TextBox 13"/>
          <p:cNvSpPr txBox="1"/>
          <p:nvPr/>
        </p:nvSpPr>
        <p:spPr>
          <a:xfrm>
            <a:off x="3108960" y="3557016"/>
            <a:ext cx="8412480" cy="640080"/>
          </a:xfrm>
          <a:prstGeom prst="rect">
            <a:avLst/>
          </a:prstGeom>
          <a:noFill/>
        </p:spPr>
        <p:txBody>
          <a:bodyPr wrap="square">
            <a:spAutoFit/>
          </a:bodyPr>
          <a:lstStyle/>
          <a:p>
            <a:pPr algn="l">
              <a:spcAft>
                <a:spcPts val="400"/>
              </a:spcAft>
            </a:pPr>
            <a:r>
              <a:rPr sz="1100" b="0">
                <a:solidFill>
                  <a:srgbClr val="445066"/>
                </a:solidFill>
                <a:latin typeface="Segoe UI"/>
              </a:rPr>
              <a:t>The specialist returns to the supervisor with its finding recorded in shared state. The supervisor decides whether another domain is needed.</a:t>
            </a:r>
          </a:p>
        </p:txBody>
      </p:sp>
      <p:sp>
        <p:nvSpPr>
          <p:cNvPr id="15" name="Oval 14"/>
          <p:cNvSpPr/>
          <p:nvPr/>
        </p:nvSpPr>
        <p:spPr>
          <a:xfrm>
            <a:off x="640080" y="4379976"/>
            <a:ext cx="457200" cy="457200"/>
          </a:xfrm>
          <a:prstGeom prst="ellipse">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200" b="1">
                <a:solidFill>
                  <a:srgbClr val="FFFFFF"/>
                </a:solidFill>
                <a:latin typeface="Segoe UI"/>
              </a:rPr>
              <a:t>4</a:t>
            </a:r>
          </a:p>
        </p:txBody>
      </p:sp>
      <p:sp>
        <p:nvSpPr>
          <p:cNvPr id="16" name="TextBox 15"/>
          <p:cNvSpPr txBox="1"/>
          <p:nvPr/>
        </p:nvSpPr>
        <p:spPr>
          <a:xfrm>
            <a:off x="1280160" y="4398264"/>
            <a:ext cx="1737360" cy="365760"/>
          </a:xfrm>
          <a:prstGeom prst="rect">
            <a:avLst/>
          </a:prstGeom>
          <a:noFill/>
        </p:spPr>
        <p:txBody>
          <a:bodyPr wrap="square">
            <a:spAutoFit/>
          </a:bodyPr>
          <a:lstStyle/>
          <a:p>
            <a:pPr algn="l">
              <a:spcAft>
                <a:spcPts val="400"/>
              </a:spcAft>
            </a:pPr>
            <a:r>
              <a:rPr sz="1300" b="1">
                <a:solidFill>
                  <a:srgbClr val="0B142A"/>
                </a:solidFill>
                <a:latin typeface="Segoe UI"/>
              </a:rPr>
              <a:t>Escalate</a:t>
            </a:r>
          </a:p>
        </p:txBody>
      </p:sp>
      <p:sp>
        <p:nvSpPr>
          <p:cNvPr id="17" name="TextBox 16"/>
          <p:cNvSpPr txBox="1"/>
          <p:nvPr/>
        </p:nvSpPr>
        <p:spPr>
          <a:xfrm>
            <a:off x="3108960" y="4361688"/>
            <a:ext cx="8412480" cy="640080"/>
          </a:xfrm>
          <a:prstGeom prst="rect">
            <a:avLst/>
          </a:prstGeom>
          <a:noFill/>
        </p:spPr>
        <p:txBody>
          <a:bodyPr wrap="square">
            <a:spAutoFit/>
          </a:bodyPr>
          <a:lstStyle/>
          <a:p>
            <a:pPr algn="l">
              <a:spcAft>
                <a:spcPts val="400"/>
              </a:spcAft>
            </a:pPr>
            <a:r>
              <a:rPr sz="1100" b="0">
                <a:solidFill>
                  <a:srgbClr val="445066"/>
                </a:solidFill>
                <a:latin typeface="Segoe UI"/>
              </a:rPr>
              <a:t>Spend rose and an anomaly is implicated, so the supervisor routes to the Optimizer, which calls find_optimization_opportunities and explain_lever.</a:t>
            </a:r>
          </a:p>
        </p:txBody>
      </p:sp>
      <p:sp>
        <p:nvSpPr>
          <p:cNvPr id="18" name="Oval 17"/>
          <p:cNvSpPr/>
          <p:nvPr/>
        </p:nvSpPr>
        <p:spPr>
          <a:xfrm>
            <a:off x="640080" y="5184648"/>
            <a:ext cx="457200" cy="457200"/>
          </a:xfrm>
          <a:prstGeom prst="ellipse">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200" b="1">
                <a:solidFill>
                  <a:srgbClr val="FFFFFF"/>
                </a:solidFill>
                <a:latin typeface="Segoe UI"/>
              </a:rPr>
              <a:t>5</a:t>
            </a:r>
          </a:p>
        </p:txBody>
      </p:sp>
      <p:sp>
        <p:nvSpPr>
          <p:cNvPr id="19" name="TextBox 18"/>
          <p:cNvSpPr txBox="1"/>
          <p:nvPr/>
        </p:nvSpPr>
        <p:spPr>
          <a:xfrm>
            <a:off x="1280160" y="5202936"/>
            <a:ext cx="1737360" cy="365760"/>
          </a:xfrm>
          <a:prstGeom prst="rect">
            <a:avLst/>
          </a:prstGeom>
          <a:noFill/>
        </p:spPr>
        <p:txBody>
          <a:bodyPr wrap="square">
            <a:spAutoFit/>
          </a:bodyPr>
          <a:lstStyle/>
          <a:p>
            <a:pPr algn="l">
              <a:spcAft>
                <a:spcPts val="400"/>
              </a:spcAft>
            </a:pPr>
            <a:r>
              <a:rPr sz="1300" b="1">
                <a:solidFill>
                  <a:srgbClr val="0B142A"/>
                </a:solidFill>
                <a:latin typeface="Segoe UI"/>
              </a:rPr>
              <a:t>Answer</a:t>
            </a:r>
          </a:p>
        </p:txBody>
      </p:sp>
      <p:sp>
        <p:nvSpPr>
          <p:cNvPr id="20" name="TextBox 19"/>
          <p:cNvSpPr txBox="1"/>
          <p:nvPr/>
        </p:nvSpPr>
        <p:spPr>
          <a:xfrm>
            <a:off x="3108960" y="5166360"/>
            <a:ext cx="8412480" cy="640080"/>
          </a:xfrm>
          <a:prstGeom prst="rect">
            <a:avLst/>
          </a:prstGeom>
          <a:noFill/>
        </p:spPr>
        <p:txBody>
          <a:bodyPr wrap="square">
            <a:spAutoFit/>
          </a:bodyPr>
          <a:lstStyle/>
          <a:p>
            <a:pPr algn="l">
              <a:spcAft>
                <a:spcPts val="400"/>
              </a:spcAft>
            </a:pPr>
            <a:r>
              <a:rPr sz="1100" b="0">
                <a:solidFill>
                  <a:srgbClr val="445066"/>
                </a:solidFill>
                <a:latin typeface="Segoe UI"/>
              </a:rPr>
              <a:t>The supervisor stops and the answer streams token by token, citing the figure and the tool it came from, in outcome terms for a VP.</a:t>
            </a:r>
          </a:p>
        </p:txBody>
      </p:sp>
      <p:sp>
        <p:nvSpPr>
          <p:cNvPr id="21" name="TextBox 20"/>
          <p:cNvSpPr txBox="1"/>
          <p:nvPr/>
        </p:nvSpPr>
        <p:spPr>
          <a:xfrm>
            <a:off x="640080" y="6035040"/>
            <a:ext cx="10881360" cy="457200"/>
          </a:xfrm>
          <a:prstGeom prst="rect">
            <a:avLst/>
          </a:prstGeom>
          <a:noFill/>
        </p:spPr>
        <p:txBody>
          <a:bodyPr wrap="square">
            <a:spAutoFit/>
          </a:bodyPr>
          <a:lstStyle/>
          <a:p>
            <a:pPr algn="l">
              <a:spcAft>
                <a:spcPts val="400"/>
              </a:spcAft>
            </a:pPr>
            <a:r>
              <a:rPr sz="1050" b="0">
                <a:solidFill>
                  <a:srgbClr val="7A8599"/>
                </a:solidFill>
                <a:latin typeface="Segoe UI"/>
              </a:rPr>
              <a:t>Guard rails: a hard stop at eight supervisor iterations, a recursion limit of 60, and a checkpointer keyed by a stable thread id so the conversation survives a page rerun.</a:t>
            </a:r>
          </a:p>
        </p:txBody>
      </p:sp>
      <p:sp>
        <p:nvSpPr>
          <p:cNvPr id="22" name="TextBox 21"/>
          <p:cNvSpPr txBox="1"/>
          <p:nvPr/>
        </p:nvSpPr>
        <p:spPr>
          <a:xfrm>
            <a:off x="640080" y="6355080"/>
            <a:ext cx="8229600" cy="274320"/>
          </a:xfrm>
          <a:prstGeom prst="rect">
            <a:avLst/>
          </a:prstGeom>
          <a:noFill/>
        </p:spPr>
        <p:txBody>
          <a:bodyPr wrap="square">
            <a:spAutoFit/>
          </a:bodyPr>
          <a:lstStyle/>
          <a:p>
            <a:pPr algn="l">
              <a:spcAft>
                <a:spcPts val="400"/>
              </a:spcAft>
            </a:pPr>
          </a:p>
        </p:txBody>
      </p:sp>
      <p:sp>
        <p:nvSpPr>
          <p:cNvPr id="23" name="TextBox 22"/>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VENDOR NEUTRALITY</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800" b="1">
                <a:solidFill>
                  <a:srgbClr val="0B142A"/>
                </a:solidFill>
                <a:latin typeface="Segoe UI"/>
              </a:rPr>
              <a:t>17 connectors, one schema</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Whatever Con Edison procures, the dashboards do not change</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11680"/>
            <a:ext cx="10881360" cy="123444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0080" y="2011680"/>
            <a:ext cx="50800" cy="123444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21408"/>
            <a:ext cx="2468880" cy="365760"/>
          </a:xfrm>
          <a:prstGeom prst="rect">
            <a:avLst/>
          </a:prstGeom>
          <a:noFill/>
        </p:spPr>
        <p:txBody>
          <a:bodyPr wrap="square">
            <a:spAutoFit/>
          </a:bodyPr>
          <a:lstStyle/>
          <a:p>
            <a:pPr algn="l">
              <a:spcAft>
                <a:spcPts val="400"/>
              </a:spcAft>
            </a:pPr>
            <a:r>
              <a:rPr sz="1350" b="1">
                <a:solidFill>
                  <a:srgbClr val="0B142A"/>
                </a:solidFill>
                <a:latin typeface="Segoe UI"/>
              </a:rPr>
              <a:t>Native cloud</a:t>
            </a:r>
          </a:p>
        </p:txBody>
      </p:sp>
      <p:sp>
        <p:nvSpPr>
          <p:cNvPr id="9" name="TextBox 8"/>
          <p:cNvSpPr txBox="1"/>
          <p:nvPr/>
        </p:nvSpPr>
        <p:spPr>
          <a:xfrm>
            <a:off x="3474720" y="2103120"/>
            <a:ext cx="7772400" cy="1051560"/>
          </a:xfrm>
          <a:prstGeom prst="rect">
            <a:avLst/>
          </a:prstGeom>
          <a:noFill/>
        </p:spPr>
        <p:txBody>
          <a:bodyPr wrap="square">
            <a:spAutoFit/>
          </a:bodyPr>
          <a:lstStyle/>
          <a:p>
            <a:pPr>
              <a:spcAft>
                <a:spcPts val="900"/>
              </a:spcAft>
            </a:pPr>
            <a:r>
              <a:rPr sz="1050">
                <a:solidFill>
                  <a:srgbClr val="445066"/>
                </a:solidFill>
                <a:latin typeface="Segoe UI"/>
              </a:rPr>
              <a:t>·  AWS — Data Exports (FOCUS 1.2), Cost Explorer, Cost Optimization Hub</a:t>
            </a:r>
          </a:p>
          <a:p>
            <a:pPr>
              <a:spcAft>
                <a:spcPts val="900"/>
              </a:spcAft>
            </a:pPr>
            <a:r>
              <a:rPr sz="1050">
                <a:solidFill>
                  <a:srgbClr val="445066"/>
                </a:solidFill>
                <a:latin typeface="Segoe UI"/>
              </a:rPr>
              <a:t>·  Azure — Cost Management, FocusCost exports, Advisor</a:t>
            </a:r>
          </a:p>
          <a:p>
            <a:pPr>
              <a:spcAft>
                <a:spcPts val="900"/>
              </a:spcAft>
            </a:pPr>
            <a:r>
              <a:rPr sz="1050">
                <a:solidFill>
                  <a:srgbClr val="445066"/>
                </a:solidFill>
                <a:latin typeface="Segoe UI"/>
              </a:rPr>
              <a:t>·  GCP — BigQuery billing export, Recommender, Budgets</a:t>
            </a:r>
          </a:p>
        </p:txBody>
      </p:sp>
      <p:sp>
        <p:nvSpPr>
          <p:cNvPr id="10" name="Rounded Rectangle 9"/>
          <p:cNvSpPr/>
          <p:nvPr/>
        </p:nvSpPr>
        <p:spPr>
          <a:xfrm>
            <a:off x="640080" y="3383280"/>
            <a:ext cx="10881360" cy="123444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40080" y="3383280"/>
            <a:ext cx="50800" cy="1234440"/>
          </a:xfrm>
          <a:prstGeom prst="rect">
            <a:avLst/>
          </a:prstGeom>
          <a:solidFill>
            <a:srgbClr val="5B4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93008"/>
            <a:ext cx="2468880" cy="365760"/>
          </a:xfrm>
          <a:prstGeom prst="rect">
            <a:avLst/>
          </a:prstGeom>
          <a:noFill/>
        </p:spPr>
        <p:txBody>
          <a:bodyPr wrap="square">
            <a:spAutoFit/>
          </a:bodyPr>
          <a:lstStyle/>
          <a:p>
            <a:pPr algn="l">
              <a:spcAft>
                <a:spcPts val="400"/>
              </a:spcAft>
            </a:pPr>
            <a:r>
              <a:rPr sz="1350" b="1">
                <a:solidFill>
                  <a:srgbClr val="0B142A"/>
                </a:solidFill>
                <a:latin typeface="Segoe UI"/>
              </a:rPr>
              <a:t>Procured platforms</a:t>
            </a:r>
          </a:p>
        </p:txBody>
      </p:sp>
      <p:sp>
        <p:nvSpPr>
          <p:cNvPr id="13" name="TextBox 12"/>
          <p:cNvSpPr txBox="1"/>
          <p:nvPr/>
        </p:nvSpPr>
        <p:spPr>
          <a:xfrm>
            <a:off x="3474720" y="3474720"/>
            <a:ext cx="7772400" cy="1051560"/>
          </a:xfrm>
          <a:prstGeom prst="rect">
            <a:avLst/>
          </a:prstGeom>
          <a:noFill/>
        </p:spPr>
        <p:txBody>
          <a:bodyPr wrap="square">
            <a:spAutoFit/>
          </a:bodyPr>
          <a:lstStyle/>
          <a:p>
            <a:pPr>
              <a:spcAft>
                <a:spcPts val="900"/>
              </a:spcAft>
            </a:pPr>
            <a:r>
              <a:rPr sz="1050">
                <a:solidFill>
                  <a:srgbClr val="445066"/>
                </a:solidFill>
                <a:latin typeface="Segoe UI"/>
              </a:rPr>
              <a:t>·  Apptio Cloudability · Tanzu CloudHealth · Flexera One</a:t>
            </a:r>
          </a:p>
          <a:p>
            <a:pPr>
              <a:spcAft>
                <a:spcPts val="900"/>
              </a:spcAft>
            </a:pPr>
            <a:r>
              <a:rPr sz="1050">
                <a:solidFill>
                  <a:srgbClr val="445066"/>
                </a:solidFill>
                <a:latin typeface="Segoe UI"/>
              </a:rPr>
              <a:t>·  Finout · Vantage · CloudZero · Harness CCM · nOps</a:t>
            </a:r>
          </a:p>
          <a:p>
            <a:pPr>
              <a:spcAft>
                <a:spcPts val="900"/>
              </a:spcAft>
            </a:pPr>
            <a:r>
              <a:rPr sz="1050">
                <a:solidFill>
                  <a:srgbClr val="445066"/>
                </a:solidFill>
                <a:latin typeface="Segoe UI"/>
              </a:rPr>
              <a:t>·  Kubecost · OpenCost · IBM Turbonomic · ServiceNow</a:t>
            </a:r>
          </a:p>
        </p:txBody>
      </p:sp>
      <p:sp>
        <p:nvSpPr>
          <p:cNvPr id="14" name="Rounded Rectangle 13"/>
          <p:cNvSpPr/>
          <p:nvPr/>
        </p:nvSpPr>
        <p:spPr>
          <a:xfrm>
            <a:off x="640080" y="4754880"/>
            <a:ext cx="10881360" cy="1234440"/>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40080" y="4754880"/>
            <a:ext cx="50800" cy="1234440"/>
          </a:xfrm>
          <a:prstGeom prst="rect">
            <a:avLst/>
          </a:prstGeom>
          <a:solidFill>
            <a:srgbClr val="119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864608"/>
            <a:ext cx="2468880" cy="365760"/>
          </a:xfrm>
          <a:prstGeom prst="rect">
            <a:avLst/>
          </a:prstGeom>
          <a:noFill/>
        </p:spPr>
        <p:txBody>
          <a:bodyPr wrap="square">
            <a:spAutoFit/>
          </a:bodyPr>
          <a:lstStyle/>
          <a:p>
            <a:pPr algn="l">
              <a:spcAft>
                <a:spcPts val="400"/>
              </a:spcAft>
            </a:pPr>
            <a:r>
              <a:rPr sz="1350" b="1">
                <a:solidFill>
                  <a:srgbClr val="0B142A"/>
                </a:solidFill>
                <a:latin typeface="Segoe UI"/>
              </a:rPr>
              <a:t>Zero-code path</a:t>
            </a:r>
          </a:p>
        </p:txBody>
      </p:sp>
      <p:sp>
        <p:nvSpPr>
          <p:cNvPr id="17" name="TextBox 16"/>
          <p:cNvSpPr txBox="1"/>
          <p:nvPr/>
        </p:nvSpPr>
        <p:spPr>
          <a:xfrm>
            <a:off x="3474720" y="4846320"/>
            <a:ext cx="7772400" cy="1051560"/>
          </a:xfrm>
          <a:prstGeom prst="rect">
            <a:avLst/>
          </a:prstGeom>
          <a:noFill/>
        </p:spPr>
        <p:txBody>
          <a:bodyPr wrap="square">
            <a:spAutoFit/>
          </a:bodyPr>
          <a:lstStyle/>
          <a:p>
            <a:pPr>
              <a:spcAft>
                <a:spcPts val="900"/>
              </a:spcAft>
            </a:pPr>
            <a:r>
              <a:rPr sz="1050">
                <a:solidFill>
                  <a:srgbClr val="445066"/>
                </a:solidFill>
                <a:latin typeface="Segoe UI"/>
              </a:rPr>
              <a:t>·  Any FOCUS CSV or Parquet — local, S3, Azure Blob or GCS</a:t>
            </a:r>
          </a:p>
          <a:p>
            <a:pPr>
              <a:spcAft>
                <a:spcPts val="900"/>
              </a:spcAft>
            </a:pPr>
            <a:r>
              <a:rPr sz="1050">
                <a:solidFill>
                  <a:srgbClr val="445066"/>
                </a:solidFill>
                <a:latin typeface="Segoe UI"/>
              </a:rPr>
              <a:t>·  CloudZero and Vantage emit FOCUS natively</a:t>
            </a:r>
          </a:p>
          <a:p>
            <a:pPr>
              <a:spcAft>
                <a:spcPts val="900"/>
              </a:spcAft>
            </a:pPr>
            <a:r>
              <a:rPr sz="1050">
                <a:solidFill>
                  <a:srgbClr val="445066"/>
                </a:solidFill>
                <a:latin typeface="Segoe UI"/>
              </a:rPr>
              <a:t>·  Cloudability, CloudHealth and Flexera ingest it</a:t>
            </a:r>
          </a:p>
        </p:txBody>
      </p:sp>
      <p:sp>
        <p:nvSpPr>
          <p:cNvPr id="18" name="TextBox 17"/>
          <p:cNvSpPr txBox="1"/>
          <p:nvPr/>
        </p:nvSpPr>
        <p:spPr>
          <a:xfrm>
            <a:off x="640080" y="5806440"/>
            <a:ext cx="10881360" cy="457200"/>
          </a:xfrm>
          <a:prstGeom prst="rect">
            <a:avLst/>
          </a:prstGeom>
          <a:noFill/>
        </p:spPr>
        <p:txBody>
          <a:bodyPr wrap="square">
            <a:spAutoFit/>
          </a:bodyPr>
          <a:lstStyle/>
          <a:p>
            <a:pPr algn="l">
              <a:spcAft>
                <a:spcPts val="400"/>
              </a:spcAft>
            </a:pPr>
            <a:r>
              <a:rPr sz="1150" b="1">
                <a:solidFill>
                  <a:srgbClr val="0B142A"/>
                </a:solidFill>
                <a:latin typeface="Segoe UI"/>
              </a:rPr>
              <a:t>Adopting a new tool is one Connector subclass and one registry line. Nothing downstream changes.</a:t>
            </a:r>
          </a:p>
        </p:txBody>
      </p:sp>
      <p:sp>
        <p:nvSpPr>
          <p:cNvPr id="19" name="TextBox 18"/>
          <p:cNvSpPr txBox="1"/>
          <p:nvPr/>
        </p:nvSpPr>
        <p:spPr>
          <a:xfrm>
            <a:off x="640080" y="6355080"/>
            <a:ext cx="8229600" cy="274320"/>
          </a:xfrm>
          <a:prstGeom prst="rect">
            <a:avLst/>
          </a:prstGeom>
          <a:noFill/>
        </p:spPr>
        <p:txBody>
          <a:bodyPr wrap="square">
            <a:spAutoFit/>
          </a:bodyPr>
          <a:lstStyle/>
          <a:p>
            <a:pPr algn="l">
              <a:spcAft>
                <a:spcPts val="400"/>
              </a:spcAft>
            </a:pPr>
          </a:p>
        </p:txBody>
      </p:sp>
      <p:sp>
        <p:nvSpPr>
          <p:cNvPr id="20" name="TextBox 19"/>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DELIVERY</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800" b="1">
                <a:solidFill>
                  <a:srgbClr val="0B142A"/>
                </a:solidFill>
                <a:latin typeface="Segoe UI"/>
              </a:rPr>
              <a:t>A phased rollout, value in the first wave</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Sequenced by effort and risk, not by dollar size</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65960"/>
            <a:ext cx="3502152" cy="3749039"/>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0080" y="1965960"/>
            <a:ext cx="3502152" cy="50800"/>
          </a:xfrm>
          <a:prstGeom prst="rect">
            <a:avLst/>
          </a:prstGeom>
          <a:solidFill>
            <a:srgbClr val="0C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121408"/>
            <a:ext cx="3108960" cy="320040"/>
          </a:xfrm>
          <a:prstGeom prst="rect">
            <a:avLst/>
          </a:prstGeom>
          <a:noFill/>
        </p:spPr>
        <p:txBody>
          <a:bodyPr wrap="square">
            <a:spAutoFit/>
          </a:bodyPr>
          <a:lstStyle/>
          <a:p>
            <a:pPr algn="l">
              <a:spcAft>
                <a:spcPts val="400"/>
              </a:spcAft>
            </a:pPr>
            <a:r>
              <a:rPr sz="1150" b="1">
                <a:solidFill>
                  <a:srgbClr val="0B142A"/>
                </a:solidFill>
                <a:latin typeface="Segoe UI"/>
              </a:rPr>
              <a:t>Wave 1 · Weeks 1–4</a:t>
            </a:r>
          </a:p>
        </p:txBody>
      </p:sp>
      <p:sp>
        <p:nvSpPr>
          <p:cNvPr id="9" name="TextBox 8"/>
          <p:cNvSpPr txBox="1"/>
          <p:nvPr/>
        </p:nvSpPr>
        <p:spPr>
          <a:xfrm>
            <a:off x="841248" y="2432304"/>
            <a:ext cx="3108960" cy="274320"/>
          </a:xfrm>
          <a:prstGeom prst="rect">
            <a:avLst/>
          </a:prstGeom>
          <a:noFill/>
        </p:spPr>
        <p:txBody>
          <a:bodyPr wrap="square">
            <a:spAutoFit/>
          </a:bodyPr>
          <a:lstStyle/>
          <a:p>
            <a:pPr algn="l">
              <a:spcAft>
                <a:spcPts val="400"/>
              </a:spcAft>
            </a:pPr>
            <a:r>
              <a:rPr sz="950" b="1">
                <a:solidFill>
                  <a:srgbClr val="0C7A3E"/>
                </a:solidFill>
                <a:latin typeface="Segoe UI"/>
              </a:rPr>
              <a:t>FinOps phase: Inform</a:t>
            </a:r>
          </a:p>
        </p:txBody>
      </p:sp>
      <p:sp>
        <p:nvSpPr>
          <p:cNvPr id="10" name="TextBox 9"/>
          <p:cNvSpPr txBox="1"/>
          <p:nvPr/>
        </p:nvSpPr>
        <p:spPr>
          <a:xfrm>
            <a:off x="841248" y="2788920"/>
            <a:ext cx="3108960" cy="2743200"/>
          </a:xfrm>
          <a:prstGeom prst="rect">
            <a:avLst/>
          </a:prstGeom>
          <a:noFill/>
        </p:spPr>
        <p:txBody>
          <a:bodyPr wrap="square">
            <a:spAutoFit/>
          </a:bodyPr>
          <a:lstStyle/>
          <a:p>
            <a:pPr>
              <a:spcAft>
                <a:spcPts val="900"/>
              </a:spcAft>
            </a:pPr>
            <a:r>
              <a:rPr sz="1050">
                <a:solidFill>
                  <a:srgbClr val="445066"/>
                </a:solidFill>
                <a:latin typeface="Segoe UI"/>
              </a:rPr>
              <a:t>—  Connect payers; validate FOCUS conformance</a:t>
            </a:r>
          </a:p>
          <a:p>
            <a:pPr>
              <a:spcAft>
                <a:spcPts val="900"/>
              </a:spcAft>
            </a:pPr>
            <a:r>
              <a:rPr sz="1050">
                <a:solidFill>
                  <a:srgbClr val="445066"/>
                </a:solidFill>
                <a:latin typeface="Segoe UI"/>
              </a:rPr>
              <a:t>—  Stand up the executive view and showback</a:t>
            </a:r>
          </a:p>
          <a:p>
            <a:pPr>
              <a:spcAft>
                <a:spcPts val="900"/>
              </a:spcAft>
            </a:pPr>
            <a:r>
              <a:rPr sz="1050">
                <a:solidFill>
                  <a:srgbClr val="445066"/>
                </a:solidFill>
                <a:latin typeface="Segoe UI"/>
              </a:rPr>
              <a:t>—  Baseline the estate; publish allocation coverage</a:t>
            </a:r>
          </a:p>
          <a:p>
            <a:pPr>
              <a:spcAft>
                <a:spcPts val="900"/>
              </a:spcAft>
            </a:pPr>
            <a:r>
              <a:rPr sz="1050">
                <a:solidFill>
                  <a:srgbClr val="445066"/>
                </a:solidFill>
                <a:latin typeface="Segoe UI"/>
              </a:rPr>
              <a:t>—  Quick wins: idle resources, gp2→gp3, orphaned snapshots</a:t>
            </a:r>
          </a:p>
        </p:txBody>
      </p:sp>
      <p:sp>
        <p:nvSpPr>
          <p:cNvPr id="11" name="Rounded Rectangle 10"/>
          <p:cNvSpPr/>
          <p:nvPr/>
        </p:nvSpPr>
        <p:spPr>
          <a:xfrm>
            <a:off x="4315967" y="1965960"/>
            <a:ext cx="3502152" cy="3749039"/>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15967" y="1965960"/>
            <a:ext cx="3502152" cy="508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7135" y="2121408"/>
            <a:ext cx="3108960" cy="320040"/>
          </a:xfrm>
          <a:prstGeom prst="rect">
            <a:avLst/>
          </a:prstGeom>
          <a:noFill/>
        </p:spPr>
        <p:txBody>
          <a:bodyPr wrap="square">
            <a:spAutoFit/>
          </a:bodyPr>
          <a:lstStyle/>
          <a:p>
            <a:pPr algn="l">
              <a:spcAft>
                <a:spcPts val="400"/>
              </a:spcAft>
            </a:pPr>
            <a:r>
              <a:rPr sz="1150" b="1">
                <a:solidFill>
                  <a:srgbClr val="0B142A"/>
                </a:solidFill>
                <a:latin typeface="Segoe UI"/>
              </a:rPr>
              <a:t>Wave 2 · Weeks 5–12</a:t>
            </a:r>
          </a:p>
        </p:txBody>
      </p:sp>
      <p:sp>
        <p:nvSpPr>
          <p:cNvPr id="14" name="TextBox 13"/>
          <p:cNvSpPr txBox="1"/>
          <p:nvPr/>
        </p:nvSpPr>
        <p:spPr>
          <a:xfrm>
            <a:off x="4517135" y="2432304"/>
            <a:ext cx="3108960" cy="274320"/>
          </a:xfrm>
          <a:prstGeom prst="rect">
            <a:avLst/>
          </a:prstGeom>
          <a:noFill/>
        </p:spPr>
        <p:txBody>
          <a:bodyPr wrap="square">
            <a:spAutoFit/>
          </a:bodyPr>
          <a:lstStyle/>
          <a:p>
            <a:pPr algn="l">
              <a:spcAft>
                <a:spcPts val="400"/>
              </a:spcAft>
            </a:pPr>
            <a:r>
              <a:rPr sz="950" b="1">
                <a:solidFill>
                  <a:srgbClr val="1E6FD9"/>
                </a:solidFill>
                <a:latin typeface="Segoe UI"/>
              </a:rPr>
              <a:t>FinOps phase: Optimize</a:t>
            </a:r>
          </a:p>
        </p:txBody>
      </p:sp>
      <p:sp>
        <p:nvSpPr>
          <p:cNvPr id="15" name="TextBox 14"/>
          <p:cNvSpPr txBox="1"/>
          <p:nvPr/>
        </p:nvSpPr>
        <p:spPr>
          <a:xfrm>
            <a:off x="4517135" y="2788920"/>
            <a:ext cx="3108960" cy="2743200"/>
          </a:xfrm>
          <a:prstGeom prst="rect">
            <a:avLst/>
          </a:prstGeom>
          <a:noFill/>
        </p:spPr>
        <p:txBody>
          <a:bodyPr wrap="square">
            <a:spAutoFit/>
          </a:bodyPr>
          <a:lstStyle/>
          <a:p>
            <a:pPr>
              <a:spcAft>
                <a:spcPts val="900"/>
              </a:spcAft>
            </a:pPr>
            <a:r>
              <a:rPr sz="1050">
                <a:solidFill>
                  <a:srgbClr val="445066"/>
                </a:solidFill>
                <a:latin typeface="Segoe UI"/>
              </a:rPr>
              <a:t>—  Tagging remediation to cross the chargeback line</a:t>
            </a:r>
          </a:p>
          <a:p>
            <a:pPr>
              <a:spcAft>
                <a:spcPts val="900"/>
              </a:spcAft>
            </a:pPr>
            <a:r>
              <a:rPr sz="1050">
                <a:solidFill>
                  <a:srgbClr val="445066"/>
                </a:solidFill>
                <a:latin typeface="Segoe UI"/>
              </a:rPr>
              <a:t>—  Commitment strategy: coverage to the sustained floor</a:t>
            </a:r>
          </a:p>
          <a:p>
            <a:pPr>
              <a:spcAft>
                <a:spcPts val="900"/>
              </a:spcAft>
            </a:pPr>
            <a:r>
              <a:rPr sz="1050">
                <a:solidFill>
                  <a:srgbClr val="445066"/>
                </a:solidFill>
                <a:latin typeface="Segoe UI"/>
              </a:rPr>
              <a:t>—  Non-prod scheduling; previous-generation migration</a:t>
            </a:r>
          </a:p>
          <a:p>
            <a:pPr>
              <a:spcAft>
                <a:spcPts val="900"/>
              </a:spcAft>
            </a:pPr>
            <a:r>
              <a:rPr sz="1050">
                <a:solidFill>
                  <a:srgbClr val="445066"/>
                </a:solidFill>
                <a:latin typeface="Segoe UI"/>
              </a:rPr>
              <a:t>—  Forecast vs budget in the monthly finance cycle</a:t>
            </a:r>
          </a:p>
        </p:txBody>
      </p:sp>
      <p:sp>
        <p:nvSpPr>
          <p:cNvPr id="16" name="Rounded Rectangle 15"/>
          <p:cNvSpPr/>
          <p:nvPr/>
        </p:nvSpPr>
        <p:spPr>
          <a:xfrm>
            <a:off x="7991854" y="1965960"/>
            <a:ext cx="3502152" cy="3749039"/>
          </a:xfrm>
          <a:prstGeom prst="roundRect">
            <a:avLst>
              <a:gd name="adj" fmla="val 6000"/>
            </a:avLst>
          </a:prstGeom>
          <a:solidFill>
            <a:srgbClr val="FFFFFF"/>
          </a:solidFill>
          <a:ln w="1270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991854" y="1965960"/>
            <a:ext cx="3502152" cy="50800"/>
          </a:xfrm>
          <a:prstGeom prst="rect">
            <a:avLst/>
          </a:prstGeom>
          <a:solidFill>
            <a:srgbClr val="5B4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3022" y="2121408"/>
            <a:ext cx="3108960" cy="320040"/>
          </a:xfrm>
          <a:prstGeom prst="rect">
            <a:avLst/>
          </a:prstGeom>
          <a:noFill/>
        </p:spPr>
        <p:txBody>
          <a:bodyPr wrap="square">
            <a:spAutoFit/>
          </a:bodyPr>
          <a:lstStyle/>
          <a:p>
            <a:pPr algn="l">
              <a:spcAft>
                <a:spcPts val="400"/>
              </a:spcAft>
            </a:pPr>
            <a:r>
              <a:rPr sz="1150" b="1">
                <a:solidFill>
                  <a:srgbClr val="0B142A"/>
                </a:solidFill>
                <a:latin typeface="Segoe UI"/>
              </a:rPr>
              <a:t>Wave 3 · Quarter 2+</a:t>
            </a:r>
          </a:p>
        </p:txBody>
      </p:sp>
      <p:sp>
        <p:nvSpPr>
          <p:cNvPr id="19" name="TextBox 18"/>
          <p:cNvSpPr txBox="1"/>
          <p:nvPr/>
        </p:nvSpPr>
        <p:spPr>
          <a:xfrm>
            <a:off x="8193022" y="2432304"/>
            <a:ext cx="3108960" cy="274320"/>
          </a:xfrm>
          <a:prstGeom prst="rect">
            <a:avLst/>
          </a:prstGeom>
          <a:noFill/>
        </p:spPr>
        <p:txBody>
          <a:bodyPr wrap="square">
            <a:spAutoFit/>
          </a:bodyPr>
          <a:lstStyle/>
          <a:p>
            <a:pPr algn="l">
              <a:spcAft>
                <a:spcPts val="400"/>
              </a:spcAft>
            </a:pPr>
            <a:r>
              <a:rPr sz="950" b="1">
                <a:solidFill>
                  <a:srgbClr val="5B4BC4"/>
                </a:solidFill>
                <a:latin typeface="Segoe UI"/>
              </a:rPr>
              <a:t>FinOps phase: Operate</a:t>
            </a:r>
          </a:p>
        </p:txBody>
      </p:sp>
      <p:sp>
        <p:nvSpPr>
          <p:cNvPr id="20" name="TextBox 19"/>
          <p:cNvSpPr txBox="1"/>
          <p:nvPr/>
        </p:nvSpPr>
        <p:spPr>
          <a:xfrm>
            <a:off x="8193022" y="2788920"/>
            <a:ext cx="3108960" cy="2743200"/>
          </a:xfrm>
          <a:prstGeom prst="rect">
            <a:avLst/>
          </a:prstGeom>
          <a:noFill/>
        </p:spPr>
        <p:txBody>
          <a:bodyPr wrap="square">
            <a:spAutoFit/>
          </a:bodyPr>
          <a:lstStyle/>
          <a:p>
            <a:pPr>
              <a:spcAft>
                <a:spcPts val="900"/>
              </a:spcAft>
            </a:pPr>
            <a:r>
              <a:rPr sz="1050">
                <a:solidFill>
                  <a:srgbClr val="445066"/>
                </a:solidFill>
                <a:latin typeface="Segoe UI"/>
              </a:rPr>
              <a:t>—  Chargeback with the agreed shared-cost policy</a:t>
            </a:r>
          </a:p>
          <a:p>
            <a:pPr>
              <a:spcAft>
                <a:spcPts val="900"/>
              </a:spcAft>
            </a:pPr>
            <a:r>
              <a:rPr sz="1050">
                <a:solidFill>
                  <a:srgbClr val="445066"/>
                </a:solidFill>
                <a:latin typeface="Segoe UI"/>
              </a:rPr>
              <a:t>—  Unit economics per customer, per kWh, per meter read</a:t>
            </a:r>
          </a:p>
          <a:p>
            <a:pPr>
              <a:spcAft>
                <a:spcPts val="900"/>
              </a:spcAft>
            </a:pPr>
            <a:r>
              <a:rPr sz="1050">
                <a:solidFill>
                  <a:srgbClr val="445066"/>
                </a:solidFill>
                <a:latin typeface="Segoe UI"/>
              </a:rPr>
              <a:t>—  Anomaly alerting into ServiceNow</a:t>
            </a:r>
          </a:p>
          <a:p>
            <a:pPr>
              <a:spcAft>
                <a:spcPts val="900"/>
              </a:spcAft>
            </a:pPr>
            <a:r>
              <a:rPr sz="1050">
                <a:solidFill>
                  <a:srgbClr val="445066"/>
                </a:solidFill>
                <a:latin typeface="Segoe UI"/>
              </a:rPr>
              <a:t>—  AI Copilot for self-service, FinOps for AI/GPU spend</a:t>
            </a:r>
          </a:p>
        </p:txBody>
      </p:sp>
      <p:sp>
        <p:nvSpPr>
          <p:cNvPr id="21" name="TextBox 20"/>
          <p:cNvSpPr txBox="1"/>
          <p:nvPr/>
        </p:nvSpPr>
        <p:spPr>
          <a:xfrm>
            <a:off x="640080" y="5897880"/>
            <a:ext cx="10881360" cy="365760"/>
          </a:xfrm>
          <a:prstGeom prst="rect">
            <a:avLst/>
          </a:prstGeom>
          <a:noFill/>
        </p:spPr>
        <p:txBody>
          <a:bodyPr wrap="square">
            <a:spAutoFit/>
          </a:bodyPr>
          <a:lstStyle/>
          <a:p>
            <a:pPr algn="l">
              <a:spcAft>
                <a:spcPts val="400"/>
              </a:spcAft>
            </a:pPr>
            <a:r>
              <a:rPr sz="1100" b="1">
                <a:solidFill>
                  <a:srgbClr val="0B142A"/>
                </a:solidFill>
                <a:latin typeface="Segoe UI"/>
              </a:rPr>
              <a:t>Wave 1 is deliberately all low-effort, low-risk levers — the programme should pay for itself before it asks for trust.</a:t>
            </a:r>
          </a:p>
        </p:txBody>
      </p:sp>
      <p:sp>
        <p:nvSpPr>
          <p:cNvPr id="22" name="TextBox 21"/>
          <p:cNvSpPr txBox="1"/>
          <p:nvPr/>
        </p:nvSpPr>
        <p:spPr>
          <a:xfrm>
            <a:off x="640080" y="6355080"/>
            <a:ext cx="8229600" cy="274320"/>
          </a:xfrm>
          <a:prstGeom prst="rect">
            <a:avLst/>
          </a:prstGeom>
          <a:noFill/>
        </p:spPr>
        <p:txBody>
          <a:bodyPr wrap="square">
            <a:spAutoFit/>
          </a:bodyPr>
          <a:lstStyle/>
          <a:p>
            <a:pPr algn="l">
              <a:spcAft>
                <a:spcPts val="400"/>
              </a:spcAft>
            </a:pPr>
          </a:p>
        </p:txBody>
      </p:sp>
      <p:sp>
        <p:nvSpPr>
          <p:cNvPr id="23" name="TextBox 22"/>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a:spAutoFit/>
          </a:bodyPr>
          <a:lstStyle/>
          <a:p>
            <a:pPr algn="l">
              <a:spcAft>
                <a:spcPts val="400"/>
              </a:spcAft>
            </a:pPr>
            <a:r>
              <a:rPr sz="1000" b="1">
                <a:solidFill>
                  <a:srgbClr val="7A8599"/>
                </a:solidFill>
                <a:latin typeface="Segoe UI"/>
              </a:rPr>
              <a:t>ASSUMPTIONS &amp; LIMITS</a:t>
            </a:r>
          </a:p>
        </p:txBody>
      </p:sp>
      <p:sp>
        <p:nvSpPr>
          <p:cNvPr id="3" name="TextBox 2"/>
          <p:cNvSpPr txBox="1"/>
          <p:nvPr/>
        </p:nvSpPr>
        <p:spPr>
          <a:xfrm>
            <a:off x="640080" y="640080"/>
            <a:ext cx="10881360" cy="548640"/>
          </a:xfrm>
          <a:prstGeom prst="rect">
            <a:avLst/>
          </a:prstGeom>
          <a:noFill/>
        </p:spPr>
        <p:txBody>
          <a:bodyPr wrap="square">
            <a:spAutoFit/>
          </a:bodyPr>
          <a:lstStyle/>
          <a:p>
            <a:pPr algn="l">
              <a:spcAft>
                <a:spcPts val="400"/>
              </a:spcAft>
            </a:pPr>
            <a:r>
              <a:rPr sz="2800" b="1">
                <a:solidFill>
                  <a:srgbClr val="0B142A"/>
                </a:solidFill>
                <a:latin typeface="Segoe UI"/>
              </a:rPr>
              <a:t>What this does not claim</a:t>
            </a:r>
          </a:p>
        </p:txBody>
      </p:sp>
      <p:sp>
        <p:nvSpPr>
          <p:cNvPr id="4" name="TextBox 3"/>
          <p:cNvSpPr txBox="1"/>
          <p:nvPr/>
        </p:nvSpPr>
        <p:spPr>
          <a:xfrm>
            <a:off x="640080" y="1207008"/>
            <a:ext cx="10881360" cy="365760"/>
          </a:xfrm>
          <a:prstGeom prst="rect">
            <a:avLst/>
          </a:prstGeom>
          <a:noFill/>
        </p:spPr>
        <p:txBody>
          <a:bodyPr wrap="square">
            <a:spAutoFit/>
          </a:bodyPr>
          <a:lstStyle/>
          <a:p>
            <a:pPr algn="l">
              <a:spcAft>
                <a:spcPts val="400"/>
              </a:spcAft>
            </a:pPr>
            <a:r>
              <a:rPr sz="1250" b="0">
                <a:solidFill>
                  <a:srgbClr val="7A8599"/>
                </a:solidFill>
                <a:latin typeface="Segoe UI"/>
              </a:rPr>
              <a:t>Stated up front, because a FinOps tool that overstates is worse than none</a:t>
            </a:r>
          </a:p>
        </p:txBody>
      </p:sp>
      <p:sp>
        <p:nvSpPr>
          <p:cNvPr id="5" name="Rectangle 4"/>
          <p:cNvSpPr/>
          <p:nvPr/>
        </p:nvSpPr>
        <p:spPr>
          <a:xfrm>
            <a:off x="640080" y="1664208"/>
            <a:ext cx="1280160" cy="38100"/>
          </a:xfrm>
          <a:prstGeom prst="rect">
            <a:avLst/>
          </a:prstGeom>
          <a:solidFill>
            <a:srgbClr val="1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65960"/>
            <a:ext cx="10881360" cy="4023360"/>
          </a:xfrm>
          <a:prstGeom prst="rect">
            <a:avLst/>
          </a:prstGeom>
          <a:noFill/>
        </p:spPr>
        <p:txBody>
          <a:bodyPr wrap="square">
            <a:spAutoFit/>
          </a:bodyPr>
          <a:lstStyle/>
          <a:p>
            <a:pPr>
              <a:spcAft>
                <a:spcPts val="900"/>
              </a:spcAft>
            </a:pPr>
            <a:r>
              <a:rPr sz="1200">
                <a:solidFill>
                  <a:srgbClr val="445066"/>
                </a:solidFill>
                <a:latin typeface="Segoe UI"/>
              </a:rPr>
              <a:t>—  Every figure in this deck comes from a synthetic 24-month utility estate. The dollars are invented; the mechanics are not.</a:t>
            </a:r>
          </a:p>
          <a:p>
            <a:pPr>
              <a:spcAft>
                <a:spcPts val="900"/>
              </a:spcAft>
            </a:pPr>
            <a:r>
              <a:rPr sz="1200">
                <a:solidFill>
                  <a:srgbClr val="445066"/>
                </a:solidFill>
                <a:latin typeface="Segoe UI"/>
              </a:rPr>
              <a:t>—  AWS Cost Explorer does not expose list price. On that path ListCost is set equal to BilledCost, so Effective Savings Rate is understated. Use the FOCUS Data Export for the true number.</a:t>
            </a:r>
          </a:p>
          <a:p>
            <a:pPr>
              <a:spcAft>
                <a:spcPts val="900"/>
              </a:spcAft>
            </a:pPr>
            <a:r>
              <a:rPr sz="1200">
                <a:solidFill>
                  <a:srgbClr val="445066"/>
                </a:solidFill>
                <a:latin typeface="Segoe UI"/>
              </a:rPr>
              <a:t>—  Business drivers — customers served, kWh delivered, meter reads — cannot be read from a cloud bill by definition. Unit economics needs a feed from a system of record.</a:t>
            </a:r>
          </a:p>
          <a:p>
            <a:pPr>
              <a:spcAft>
                <a:spcPts val="900"/>
              </a:spcAft>
            </a:pPr>
            <a:r>
              <a:rPr sz="1200">
                <a:solidFill>
                  <a:srgbClr val="445066"/>
                </a:solidFill>
                <a:latin typeface="Segoe UI"/>
              </a:rPr>
              <a:t>—  Savings percentages in the lever catalog are vendor 'up-to' figures. Treat them as ceilings.</a:t>
            </a:r>
          </a:p>
          <a:p>
            <a:pPr>
              <a:spcAft>
                <a:spcPts val="900"/>
              </a:spcAft>
            </a:pPr>
            <a:r>
              <a:rPr sz="1200">
                <a:solidFill>
                  <a:srgbClr val="445066"/>
                </a:solidFill>
                <a:latin typeface="Segoe UI"/>
              </a:rPr>
              <a:t>—  Storage-tiering and rightsizing detectors infer from billing data alone. Where a detector cannot see access patterns or CPU utilisation, it lowers its confidence and says what telemetry would confirm it.</a:t>
            </a:r>
          </a:p>
          <a:p>
            <a:pPr>
              <a:spcAft>
                <a:spcPts val="900"/>
              </a:spcAft>
            </a:pPr>
            <a:r>
              <a:rPr sz="1200">
                <a:solidFill>
                  <a:srgbClr val="445066"/>
                </a:solidFill>
                <a:latin typeface="Segoe UI"/>
              </a:rPr>
              <a:t>—  Several vendor endpoints are marked UNVERIFIED in code where public documentation was thin — notably ServiceNow's Cloud Cost Management table names, which must be enumerated in Con Edison's own instance.</a:t>
            </a:r>
          </a:p>
          <a:p>
            <a:pPr>
              <a:spcAft>
                <a:spcPts val="900"/>
              </a:spcAft>
            </a:pPr>
            <a:r>
              <a:rPr sz="1200">
                <a:solidFill>
                  <a:srgbClr val="445066"/>
                </a:solidFill>
                <a:latin typeface="Segoe UI"/>
              </a:rPr>
              <a:t>—  The ~90% allocation-coverage chargeback threshold is practitioner consensus, not a published FinOps Foundation number.</a:t>
            </a:r>
          </a:p>
        </p:txBody>
      </p:sp>
      <p:sp>
        <p:nvSpPr>
          <p:cNvPr id="7" name="TextBox 6"/>
          <p:cNvSpPr txBox="1"/>
          <p:nvPr/>
        </p:nvSpPr>
        <p:spPr>
          <a:xfrm>
            <a:off x="640080" y="6355080"/>
            <a:ext cx="8229600" cy="274320"/>
          </a:xfrm>
          <a:prstGeom prst="rect">
            <a:avLst/>
          </a:prstGeom>
          <a:noFill/>
        </p:spPr>
        <p:txBody>
          <a:bodyPr wrap="square">
            <a:spAutoFit/>
          </a:bodyPr>
          <a:lstStyle/>
          <a:p>
            <a:pPr algn="l">
              <a:spcAft>
                <a:spcPts val="400"/>
              </a:spcAft>
            </a:pPr>
          </a:p>
        </p:txBody>
      </p:sp>
      <p:sp>
        <p:nvSpPr>
          <p:cNvPr id="8" name="TextBox 7"/>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2194560"/>
          </a:xfrm>
          <a:prstGeom prst="roundRect">
            <a:avLst>
              <a:gd name="adj" fmla="val 6000"/>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731520"/>
            <a:ext cx="10058400" cy="365760"/>
          </a:xfrm>
          <a:prstGeom prst="rect">
            <a:avLst/>
          </a:prstGeom>
          <a:noFill/>
        </p:spPr>
        <p:txBody>
          <a:bodyPr wrap="square">
            <a:spAutoFit/>
          </a:bodyPr>
          <a:lstStyle/>
          <a:p>
            <a:pPr algn="l">
              <a:spcAft>
                <a:spcPts val="400"/>
              </a:spcAft>
            </a:pPr>
            <a:r>
              <a:rPr sz="1200" b="1">
                <a:solidFill>
                  <a:srgbClr val="1E6FD9"/>
                </a:solidFill>
                <a:latin typeface="Segoe UI"/>
              </a:rPr>
              <a:t>NEXT STEPS</a:t>
            </a:r>
          </a:p>
        </p:txBody>
      </p:sp>
      <p:sp>
        <p:nvSpPr>
          <p:cNvPr id="4" name="TextBox 3"/>
          <p:cNvSpPr txBox="1"/>
          <p:nvPr/>
        </p:nvSpPr>
        <p:spPr>
          <a:xfrm>
            <a:off x="822960" y="1051560"/>
            <a:ext cx="10058400" cy="731520"/>
          </a:xfrm>
          <a:prstGeom prst="rect">
            <a:avLst/>
          </a:prstGeom>
          <a:noFill/>
        </p:spPr>
        <p:txBody>
          <a:bodyPr wrap="square">
            <a:spAutoFit/>
          </a:bodyPr>
          <a:lstStyle/>
          <a:p>
            <a:pPr algn="l">
              <a:spcAft>
                <a:spcPts val="400"/>
              </a:spcAft>
            </a:pPr>
            <a:r>
              <a:rPr sz="3400" b="1">
                <a:solidFill>
                  <a:srgbClr val="0B142A"/>
                </a:solidFill>
                <a:latin typeface="Segoe UI"/>
              </a:rPr>
              <a:t>What we would need to go live</a:t>
            </a:r>
          </a:p>
        </p:txBody>
      </p:sp>
      <p:sp>
        <p:nvSpPr>
          <p:cNvPr id="5" name="TextBox 4"/>
          <p:cNvSpPr txBox="1"/>
          <p:nvPr/>
        </p:nvSpPr>
        <p:spPr>
          <a:xfrm>
            <a:off x="822960" y="2606040"/>
            <a:ext cx="3200400" cy="365760"/>
          </a:xfrm>
          <a:prstGeom prst="rect">
            <a:avLst/>
          </a:prstGeom>
          <a:noFill/>
        </p:spPr>
        <p:txBody>
          <a:bodyPr wrap="square">
            <a:spAutoFit/>
          </a:bodyPr>
          <a:lstStyle/>
          <a:p>
            <a:pPr algn="l">
              <a:spcAft>
                <a:spcPts val="400"/>
              </a:spcAft>
            </a:pPr>
            <a:r>
              <a:rPr sz="1350" b="1">
                <a:solidFill>
                  <a:srgbClr val="0B142A"/>
                </a:solidFill>
                <a:latin typeface="Segoe UI"/>
              </a:rPr>
              <a:t>Read-only credentials</a:t>
            </a:r>
          </a:p>
        </p:txBody>
      </p:sp>
      <p:sp>
        <p:nvSpPr>
          <p:cNvPr id="6" name="TextBox 5"/>
          <p:cNvSpPr txBox="1"/>
          <p:nvPr/>
        </p:nvSpPr>
        <p:spPr>
          <a:xfrm>
            <a:off x="4206240" y="2587752"/>
            <a:ext cx="7223760" cy="566928"/>
          </a:xfrm>
          <a:prstGeom prst="rect">
            <a:avLst/>
          </a:prstGeom>
          <a:noFill/>
        </p:spPr>
        <p:txBody>
          <a:bodyPr wrap="square">
            <a:spAutoFit/>
          </a:bodyPr>
          <a:lstStyle/>
          <a:p>
            <a:pPr algn="l">
              <a:spcAft>
                <a:spcPts val="400"/>
              </a:spcAft>
            </a:pPr>
            <a:r>
              <a:rPr sz="1150" b="0">
                <a:solidFill>
                  <a:srgbClr val="445066"/>
                </a:solidFill>
                <a:latin typeface="Segoe UI"/>
              </a:rPr>
              <a:t>One per payer / tenant / billing account. Cost Explorer, Cost Management and BigQuery billing export access — nothing that can change a resource.</a:t>
            </a:r>
          </a:p>
        </p:txBody>
      </p:sp>
      <p:sp>
        <p:nvSpPr>
          <p:cNvPr id="7" name="TextBox 6"/>
          <p:cNvSpPr txBox="1"/>
          <p:nvPr/>
        </p:nvSpPr>
        <p:spPr>
          <a:xfrm>
            <a:off x="822960" y="3319272"/>
            <a:ext cx="3200400" cy="365760"/>
          </a:xfrm>
          <a:prstGeom prst="rect">
            <a:avLst/>
          </a:prstGeom>
          <a:noFill/>
        </p:spPr>
        <p:txBody>
          <a:bodyPr wrap="square">
            <a:spAutoFit/>
          </a:bodyPr>
          <a:lstStyle/>
          <a:p>
            <a:pPr algn="l">
              <a:spcAft>
                <a:spcPts val="400"/>
              </a:spcAft>
            </a:pPr>
            <a:r>
              <a:rPr sz="1350" b="1">
                <a:solidFill>
                  <a:srgbClr val="0B142A"/>
                </a:solidFill>
                <a:latin typeface="Segoe UI"/>
              </a:rPr>
              <a:t>A FOCUS export, ideally</a:t>
            </a:r>
          </a:p>
        </p:txBody>
      </p:sp>
      <p:sp>
        <p:nvSpPr>
          <p:cNvPr id="8" name="TextBox 7"/>
          <p:cNvSpPr txBox="1"/>
          <p:nvPr/>
        </p:nvSpPr>
        <p:spPr>
          <a:xfrm>
            <a:off x="4206240" y="3300984"/>
            <a:ext cx="7223760" cy="566928"/>
          </a:xfrm>
          <a:prstGeom prst="rect">
            <a:avLst/>
          </a:prstGeom>
          <a:noFill/>
        </p:spPr>
        <p:txBody>
          <a:bodyPr wrap="square">
            <a:spAutoFit/>
          </a:bodyPr>
          <a:lstStyle/>
          <a:p>
            <a:pPr algn="l">
              <a:spcAft>
                <a:spcPts val="400"/>
              </a:spcAft>
            </a:pPr>
            <a:r>
              <a:rPr sz="1150" b="0">
                <a:solidFill>
                  <a:srgbClr val="445066"/>
                </a:solidFill>
                <a:latin typeface="Segoe UI"/>
              </a:rPr>
              <a:t>AWS Data Exports (FOCUS 1.2) and Azure FocusCost give a true list price, so Effective Savings Rate is correct rather than understated.</a:t>
            </a:r>
          </a:p>
        </p:txBody>
      </p:sp>
      <p:sp>
        <p:nvSpPr>
          <p:cNvPr id="9" name="TextBox 8"/>
          <p:cNvSpPr txBox="1"/>
          <p:nvPr/>
        </p:nvSpPr>
        <p:spPr>
          <a:xfrm>
            <a:off x="822960" y="4032504"/>
            <a:ext cx="3200400" cy="365760"/>
          </a:xfrm>
          <a:prstGeom prst="rect">
            <a:avLst/>
          </a:prstGeom>
          <a:noFill/>
        </p:spPr>
        <p:txBody>
          <a:bodyPr wrap="square">
            <a:spAutoFit/>
          </a:bodyPr>
          <a:lstStyle/>
          <a:p>
            <a:pPr algn="l">
              <a:spcAft>
                <a:spcPts val="400"/>
              </a:spcAft>
            </a:pPr>
            <a:r>
              <a:rPr sz="1350" b="1">
                <a:solidFill>
                  <a:srgbClr val="0B142A"/>
                </a:solidFill>
                <a:latin typeface="Segoe UI"/>
              </a:rPr>
              <a:t>Your tagging standard</a:t>
            </a:r>
          </a:p>
        </p:txBody>
      </p:sp>
      <p:sp>
        <p:nvSpPr>
          <p:cNvPr id="10" name="TextBox 9"/>
          <p:cNvSpPr txBox="1"/>
          <p:nvPr/>
        </p:nvSpPr>
        <p:spPr>
          <a:xfrm>
            <a:off x="4206240" y="4014216"/>
            <a:ext cx="7223760" cy="566928"/>
          </a:xfrm>
          <a:prstGeom prst="rect">
            <a:avLst/>
          </a:prstGeom>
          <a:noFill/>
        </p:spPr>
        <p:txBody>
          <a:bodyPr wrap="square">
            <a:spAutoFit/>
          </a:bodyPr>
          <a:lstStyle/>
          <a:p>
            <a:pPr algn="l">
              <a:spcAft>
                <a:spcPts val="400"/>
              </a:spcAft>
            </a:pPr>
            <a:r>
              <a:rPr sz="1150" b="0">
                <a:solidFill>
                  <a:srgbClr val="445066"/>
                </a:solidFill>
                <a:latin typeface="Segoe UI"/>
              </a:rPr>
              <a:t>So the canonical keys map to Con Edison's own — application, business unit, cost centre, environment, owner, project.</a:t>
            </a:r>
          </a:p>
        </p:txBody>
      </p:sp>
      <p:sp>
        <p:nvSpPr>
          <p:cNvPr id="11" name="TextBox 10"/>
          <p:cNvSpPr txBox="1"/>
          <p:nvPr/>
        </p:nvSpPr>
        <p:spPr>
          <a:xfrm>
            <a:off x="822960" y="4745736"/>
            <a:ext cx="3200400" cy="365760"/>
          </a:xfrm>
          <a:prstGeom prst="rect">
            <a:avLst/>
          </a:prstGeom>
          <a:noFill/>
        </p:spPr>
        <p:txBody>
          <a:bodyPr wrap="square">
            <a:spAutoFit/>
          </a:bodyPr>
          <a:lstStyle/>
          <a:p>
            <a:pPr algn="l">
              <a:spcAft>
                <a:spcPts val="400"/>
              </a:spcAft>
            </a:pPr>
            <a:r>
              <a:rPr sz="1350" b="1">
                <a:solidFill>
                  <a:srgbClr val="0B142A"/>
                </a:solidFill>
                <a:latin typeface="Segoe UI"/>
              </a:rPr>
              <a:t>A business driver feed</a:t>
            </a:r>
          </a:p>
        </p:txBody>
      </p:sp>
      <p:sp>
        <p:nvSpPr>
          <p:cNvPr id="12" name="TextBox 11"/>
          <p:cNvSpPr txBox="1"/>
          <p:nvPr/>
        </p:nvSpPr>
        <p:spPr>
          <a:xfrm>
            <a:off x="4206240" y="4727448"/>
            <a:ext cx="7223760" cy="566928"/>
          </a:xfrm>
          <a:prstGeom prst="rect">
            <a:avLst/>
          </a:prstGeom>
          <a:noFill/>
        </p:spPr>
        <p:txBody>
          <a:bodyPr wrap="square">
            <a:spAutoFit/>
          </a:bodyPr>
          <a:lstStyle/>
          <a:p>
            <a:pPr algn="l">
              <a:spcAft>
                <a:spcPts val="400"/>
              </a:spcAft>
            </a:pPr>
            <a:r>
              <a:rPr sz="1150" b="0">
                <a:solidFill>
                  <a:srgbClr val="445066"/>
                </a:solidFill>
                <a:latin typeface="Segoe UI"/>
              </a:rPr>
              <a:t>Customers served, kWh delivered, work orders closed. This is what turns a cloud bill into a unit cost a VP can defend.</a:t>
            </a:r>
          </a:p>
        </p:txBody>
      </p:sp>
      <p:sp>
        <p:nvSpPr>
          <p:cNvPr id="13" name="TextBox 12"/>
          <p:cNvSpPr txBox="1"/>
          <p:nvPr/>
        </p:nvSpPr>
        <p:spPr>
          <a:xfrm>
            <a:off x="822960" y="5458968"/>
            <a:ext cx="3200400" cy="365760"/>
          </a:xfrm>
          <a:prstGeom prst="rect">
            <a:avLst/>
          </a:prstGeom>
          <a:noFill/>
        </p:spPr>
        <p:txBody>
          <a:bodyPr wrap="square">
            <a:spAutoFit/>
          </a:bodyPr>
          <a:lstStyle/>
          <a:p>
            <a:pPr algn="l">
              <a:spcAft>
                <a:spcPts val="400"/>
              </a:spcAft>
            </a:pPr>
            <a:r>
              <a:rPr sz="1350" b="1">
                <a:solidFill>
                  <a:srgbClr val="0B142A"/>
                </a:solidFill>
                <a:latin typeface="Segoe UI"/>
              </a:rPr>
              <a:t>An allocation policy decision</a:t>
            </a:r>
          </a:p>
        </p:txBody>
      </p:sp>
      <p:sp>
        <p:nvSpPr>
          <p:cNvPr id="14" name="TextBox 13"/>
          <p:cNvSpPr txBox="1"/>
          <p:nvPr/>
        </p:nvSpPr>
        <p:spPr>
          <a:xfrm>
            <a:off x="4206240" y="5440680"/>
            <a:ext cx="7223760" cy="566928"/>
          </a:xfrm>
          <a:prstGeom prst="rect">
            <a:avLst/>
          </a:prstGeom>
          <a:noFill/>
        </p:spPr>
        <p:txBody>
          <a:bodyPr wrap="square">
            <a:spAutoFit/>
          </a:bodyPr>
          <a:lstStyle/>
          <a:p>
            <a:pPr algn="l">
              <a:spcAft>
                <a:spcPts val="400"/>
              </a:spcAft>
            </a:pPr>
            <a:r>
              <a:rPr sz="1150" b="0">
                <a:solidFill>
                  <a:srgbClr val="445066"/>
                </a:solidFill>
                <a:latin typeface="Segoe UI"/>
              </a:rPr>
              <a:t>Even split, proportional, or a fixed percentage for the shared platform pool. This is an accounting choice, not a technical one.</a:t>
            </a:r>
          </a:p>
        </p:txBody>
      </p:sp>
      <p:sp>
        <p:nvSpPr>
          <p:cNvPr id="15" name="TextBox 14"/>
          <p:cNvSpPr txBox="1"/>
          <p:nvPr/>
        </p:nvSpPr>
        <p:spPr>
          <a:xfrm>
            <a:off x="640080" y="6355080"/>
            <a:ext cx="8229600" cy="274320"/>
          </a:xfrm>
          <a:prstGeom prst="rect">
            <a:avLst/>
          </a:prstGeom>
          <a:noFill/>
        </p:spPr>
        <p:txBody>
          <a:bodyPr wrap="square">
            <a:spAutoFit/>
          </a:bodyPr>
          <a:lstStyle/>
          <a:p>
            <a:pPr algn="l">
              <a:spcAft>
                <a:spcPts val="400"/>
              </a:spcAft>
            </a:pPr>
            <a:r>
              <a:rPr sz="850" b="0">
                <a:solidFill>
                  <a:srgbClr val="7A8599"/>
                </a:solidFill>
                <a:latin typeface="Segoe UI"/>
              </a:rPr>
              <a:t>Infosys · Con Edison</a:t>
            </a:r>
          </a:p>
        </p:txBody>
      </p:sp>
      <p:sp>
        <p:nvSpPr>
          <p:cNvPr id="16" name="TextBox 15"/>
          <p:cNvSpPr txBox="1"/>
          <p:nvPr/>
        </p:nvSpPr>
        <p:spPr>
          <a:xfrm>
            <a:off x="10424160" y="6355080"/>
            <a:ext cx="1188720" cy="274320"/>
          </a:xfrm>
          <a:prstGeom prst="rect">
            <a:avLst/>
          </a:prstGeom>
          <a:noFill/>
        </p:spPr>
        <p:txBody>
          <a:bodyPr wrap="square">
            <a:spAutoFit/>
          </a:bodyPr>
          <a:lstStyle/>
          <a:p>
            <a:pPr algn="r">
              <a:spcAft>
                <a:spcPts val="400"/>
              </a:spcAft>
            </a:pPr>
            <a:r>
              <a:rPr sz="850" b="1">
                <a:solidFill>
                  <a:srgbClr val="7A8599"/>
                </a:solidFill>
                <a:latin typeface="Segoe UI"/>
              </a:rPr>
              <a:t>Infosys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